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0"/>
  </p:notesMasterIdLst>
  <p:sldIdLst>
    <p:sldId id="256" r:id="rId2"/>
    <p:sldId id="315" r:id="rId3"/>
    <p:sldId id="421" r:id="rId4"/>
    <p:sldId id="422" r:id="rId5"/>
    <p:sldId id="258" r:id="rId6"/>
    <p:sldId id="283" r:id="rId7"/>
    <p:sldId id="278" r:id="rId8"/>
    <p:sldId id="424" r:id="rId9"/>
    <p:sldId id="423" r:id="rId10"/>
    <p:sldId id="300" r:id="rId11"/>
    <p:sldId id="303" r:id="rId12"/>
    <p:sldId id="304" r:id="rId13"/>
    <p:sldId id="305" r:id="rId14"/>
    <p:sldId id="425" r:id="rId15"/>
    <p:sldId id="268" r:id="rId16"/>
    <p:sldId id="306" r:id="rId17"/>
    <p:sldId id="307" r:id="rId18"/>
    <p:sldId id="286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2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we Ricken" initials="UR" lastIdx="1" clrIdx="0">
    <p:extLst>
      <p:ext uri="{19B8F6BF-5375-455C-9EA6-DF929625EA0E}">
        <p15:presenceInfo xmlns:p15="http://schemas.microsoft.com/office/powerpoint/2012/main" userId="f02567aecbed924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132910-2021-4033-B425-C0E2F9D99AE1}" v="2" dt="2026-04-07T16:40:34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707" autoAdjust="0"/>
  </p:normalViewPr>
  <p:slideViewPr>
    <p:cSldViewPr snapToGrid="0" showGuides="1">
      <p:cViewPr varScale="1">
        <p:scale>
          <a:sx n="82" d="100"/>
          <a:sy n="82" d="100"/>
        </p:scale>
        <p:origin x="446" y="55"/>
      </p:cViewPr>
      <p:guideLst>
        <p:guide orient="horz" pos="2160"/>
        <p:guide pos="3840"/>
        <p:guide pos="7446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we Ricken" userId="f02567aecbed924b" providerId="LiveId" clId="{E77B627B-1F43-41A9-9F24-D4BB31BF6050}"/>
    <pc:docChg chg="custSel addSld delSld modSld delMainMaster modMainMaster">
      <pc:chgData name="Uwe Ricken" userId="f02567aecbed924b" providerId="LiveId" clId="{E77B627B-1F43-41A9-9F24-D4BB31BF6050}" dt="2026-04-07T16:41:48.616" v="72" actId="20577"/>
      <pc:docMkLst>
        <pc:docMk/>
      </pc:docMkLst>
      <pc:sldChg chg="modSp mod">
        <pc:chgData name="Uwe Ricken" userId="f02567aecbed924b" providerId="LiveId" clId="{E77B627B-1F43-41A9-9F24-D4BB31BF6050}" dt="2026-04-07T16:41:19.834" v="39" actId="20577"/>
        <pc:sldMkLst>
          <pc:docMk/>
          <pc:sldMk cId="1802371501" sldId="286"/>
        </pc:sldMkLst>
        <pc:spChg chg="mod">
          <ac:chgData name="Uwe Ricken" userId="f02567aecbed924b" providerId="LiveId" clId="{E77B627B-1F43-41A9-9F24-D4BB31BF6050}" dt="2026-04-07T16:41:19.834" v="39" actId="20577"/>
          <ac:spMkLst>
            <pc:docMk/>
            <pc:sldMk cId="1802371501" sldId="286"/>
            <ac:spMk id="5" creationId="{00000000-0000-0000-0000-000000000000}"/>
          </ac:spMkLst>
        </pc:spChg>
      </pc:sldChg>
      <pc:sldChg chg="modSp add mod">
        <pc:chgData name="Uwe Ricken" userId="f02567aecbed924b" providerId="LiveId" clId="{E77B627B-1F43-41A9-9F24-D4BB31BF6050}" dt="2026-04-07T16:41:48.616" v="72" actId="20577"/>
        <pc:sldMkLst>
          <pc:docMk/>
          <pc:sldMk cId="2855418777" sldId="424"/>
        </pc:sldMkLst>
        <pc:spChg chg="mod">
          <ac:chgData name="Uwe Ricken" userId="f02567aecbed924b" providerId="LiveId" clId="{E77B627B-1F43-41A9-9F24-D4BB31BF6050}" dt="2026-04-07T16:41:48.616" v="72" actId="20577"/>
          <ac:spMkLst>
            <pc:docMk/>
            <pc:sldMk cId="2855418777" sldId="424"/>
            <ac:spMk id="5" creationId="{1F3F4BD8-1AD6-987F-B0CD-3CF158FAA86D}"/>
          </ac:spMkLst>
        </pc:spChg>
      </pc:sldChg>
      <pc:sldChg chg="modSp add mod">
        <pc:chgData name="Uwe Ricken" userId="f02567aecbed924b" providerId="LiveId" clId="{E77B627B-1F43-41A9-9F24-D4BB31BF6050}" dt="2026-04-07T16:41:34.354" v="62" actId="20577"/>
        <pc:sldMkLst>
          <pc:docMk/>
          <pc:sldMk cId="673038370" sldId="425"/>
        </pc:sldMkLst>
        <pc:spChg chg="mod">
          <ac:chgData name="Uwe Ricken" userId="f02567aecbed924b" providerId="LiveId" clId="{E77B627B-1F43-41A9-9F24-D4BB31BF6050}" dt="2026-04-07T16:41:34.354" v="62" actId="20577"/>
          <ac:spMkLst>
            <pc:docMk/>
            <pc:sldMk cId="673038370" sldId="425"/>
            <ac:spMk id="5" creationId="{2EEA329C-1A0A-ACCF-3A89-FA01DBAF7E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73415-10F7-418B-9CE5-4D962F0C15FB}" type="datetimeFigureOut">
              <a:rPr lang="de-DE" smtClean="0"/>
              <a:t>07.04.2026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3E00D-603F-4318-A48C-2AD6684A6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68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25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479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5539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610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7556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524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4245" y="1665289"/>
            <a:ext cx="11510683" cy="1763712"/>
          </a:xfrm>
        </p:spPr>
        <p:txBody>
          <a:bodyPr anchor="b">
            <a:normAutofit/>
          </a:bodyPr>
          <a:lstStyle>
            <a:lvl1pPr algn="ctr"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4245" y="3602044"/>
            <a:ext cx="11510683" cy="20119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3" indent="0" algn="ctr">
              <a:buNone/>
              <a:defRPr sz="2000"/>
            </a:lvl2pPr>
            <a:lvl3pPr marL="914286" indent="0" algn="ctr">
              <a:buNone/>
              <a:defRPr sz="1867"/>
            </a:lvl3pPr>
            <a:lvl4pPr marL="1371430" indent="0" algn="ctr">
              <a:buNone/>
              <a:defRPr sz="1600"/>
            </a:lvl4pPr>
            <a:lvl5pPr marL="1828573" indent="0" algn="ctr">
              <a:buNone/>
              <a:defRPr sz="1600"/>
            </a:lvl5pPr>
            <a:lvl6pPr marL="2285718" indent="0" algn="ctr">
              <a:buNone/>
              <a:defRPr sz="1600"/>
            </a:lvl6pPr>
            <a:lvl7pPr marL="2742858" indent="0" algn="ctr">
              <a:buNone/>
              <a:defRPr sz="1600"/>
            </a:lvl7pPr>
            <a:lvl8pPr marL="3200000" indent="0" algn="ctr">
              <a:buNone/>
              <a:defRPr sz="1600"/>
            </a:lvl8pPr>
            <a:lvl9pPr marL="3657143" indent="0" algn="ctr">
              <a:buNone/>
              <a:defRPr sz="1600"/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25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5" y="1665288"/>
            <a:ext cx="11522075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9945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4977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6" y="441326"/>
            <a:ext cx="8640761" cy="111601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2579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b Berater - Coding Ex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8066" y="1678742"/>
            <a:ext cx="6488975" cy="455854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Lucida Console" panose="020B0609040504020204" pitchFamily="49" charset="0"/>
              </a:defRPr>
            </a:lvl1pPr>
            <a:lvl2pPr marL="457155" indent="0">
              <a:buNone/>
              <a:defRPr sz="1600">
                <a:latin typeface="Lucida Console" panose="020B0609040504020204" pitchFamily="49" charset="0"/>
              </a:defRPr>
            </a:lvl2pPr>
            <a:lvl3pPr marL="914308" indent="0">
              <a:buNone/>
              <a:defRPr sz="1600">
                <a:latin typeface="Lucida Console" panose="020B0609040504020204" pitchFamily="49" charset="0"/>
              </a:defRPr>
            </a:lvl3pPr>
            <a:lvl4pPr marL="1371462" indent="0">
              <a:buNone/>
              <a:defRPr sz="1600">
                <a:latin typeface="Lucida Console" panose="020B0609040504020204" pitchFamily="49" charset="0"/>
              </a:defRPr>
            </a:lvl4pPr>
            <a:lvl5pPr marL="1828618" indent="0">
              <a:buNone/>
              <a:defRPr sz="1600">
                <a:latin typeface="Lucida Console" panose="020B060904050402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>
            <a:lvl1pPr marL="228589" indent="-228589">
              <a:buFont typeface="Arial" panose="020B0604020202020204" pitchFamily="34" charset="0"/>
              <a:buChar char="•"/>
              <a:defRPr sz="1600"/>
            </a:lvl1pPr>
            <a:lvl2pPr marL="457143" indent="0">
              <a:buNone/>
              <a:defRPr sz="1467"/>
            </a:lvl2pPr>
            <a:lvl3pPr marL="914286" indent="0">
              <a:buNone/>
              <a:defRPr sz="1200"/>
            </a:lvl3pPr>
            <a:lvl4pPr marL="1371430" indent="0">
              <a:buNone/>
              <a:defRPr sz="1067"/>
            </a:lvl4pPr>
            <a:lvl5pPr marL="1828573" indent="0">
              <a:buNone/>
              <a:defRPr sz="1067"/>
            </a:lvl5pPr>
            <a:lvl6pPr marL="2285718" indent="0">
              <a:buNone/>
              <a:defRPr sz="1067"/>
            </a:lvl6pPr>
            <a:lvl7pPr marL="2742858" indent="0">
              <a:buNone/>
              <a:defRPr sz="1067"/>
            </a:lvl7pPr>
            <a:lvl8pPr marL="3200000" indent="0">
              <a:buNone/>
              <a:defRPr sz="1067"/>
            </a:lvl8pPr>
            <a:lvl9pPr marL="3657143" indent="0">
              <a:buNone/>
              <a:defRPr sz="1067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12C8F18-4741-03DA-3F19-FC0858FB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42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5360" y="0"/>
            <a:ext cx="10177131" cy="1052736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5360" y="1268760"/>
            <a:ext cx="11521280" cy="5040560"/>
          </a:xfrm>
        </p:spPr>
        <p:txBody>
          <a:bodyPr/>
          <a:lstStyle>
            <a:lvl1pPr>
              <a:tabLst>
                <a:tab pos="355600" algn="l"/>
                <a:tab pos="723900" algn="l"/>
                <a:tab pos="1168400" algn="l"/>
                <a:tab pos="1612900" algn="l"/>
                <a:tab pos="2057400" algn="l"/>
              </a:tabLst>
              <a:defRPr/>
            </a:lvl1pPr>
            <a:lvl2pPr defTabSz="444500">
              <a:tabLst>
                <a:tab pos="355600" algn="l"/>
                <a:tab pos="762000" algn="l"/>
                <a:tab pos="1168400" algn="l"/>
                <a:tab pos="1612900" algn="l"/>
                <a:tab pos="2057400" algn="l"/>
              </a:tabLst>
              <a:defRPr/>
            </a:lvl2pPr>
            <a:lvl3pPr>
              <a:tabLst>
                <a:tab pos="355600" algn="l"/>
                <a:tab pos="723900" algn="l"/>
                <a:tab pos="1168400" algn="l"/>
                <a:tab pos="1612900" algn="l"/>
                <a:tab pos="2057400" algn="l"/>
              </a:tabLst>
              <a:defRPr/>
            </a:lvl3pPr>
            <a:lvl4pPr>
              <a:tabLst>
                <a:tab pos="355600" algn="l"/>
                <a:tab pos="723900" algn="l"/>
                <a:tab pos="1168400" algn="l"/>
                <a:tab pos="1612900" algn="l"/>
                <a:tab pos="2057400" algn="l"/>
              </a:tabLst>
              <a:defRPr/>
            </a:lvl4pPr>
            <a:lvl5pPr>
              <a:tabLst>
                <a:tab pos="355600" algn="l"/>
                <a:tab pos="723900" algn="l"/>
                <a:tab pos="1168400" algn="l"/>
                <a:tab pos="1612900" algn="l"/>
                <a:tab pos="2057400" algn="l"/>
              </a:tabLst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1009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15413" y="2498974"/>
            <a:ext cx="10363200" cy="1362075"/>
          </a:xfrm>
          <a:prstGeom prst="rect">
            <a:avLst/>
          </a:prstGeom>
          <a:solidFill>
            <a:srgbClr val="009DDF"/>
          </a:solidFill>
        </p:spPr>
        <p:txBody>
          <a:bodyPr anchor="ctr"/>
          <a:lstStyle>
            <a:lvl1pPr algn="ctr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11424" y="4509121"/>
            <a:ext cx="10363200" cy="1500187"/>
          </a:xfrm>
        </p:spPr>
        <p:txBody>
          <a:bodyPr anchor="t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3483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www.db-berater.de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54107" y="450852"/>
            <a:ext cx="9018492" cy="1102353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4107" y="1665290"/>
            <a:ext cx="11490063" cy="4571999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372600" y="450848"/>
            <a:ext cx="24715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0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en-US" sz="2400" b="1" noProof="0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en-US" sz="1000" b="1" noProof="0" dirty="0" err="1"/>
              <a:t>Planung</a:t>
            </a:r>
            <a:r>
              <a:rPr lang="en-US" sz="1000" b="1" noProof="0" dirty="0"/>
              <a:t> – Installation</a:t>
            </a:r>
            <a:r>
              <a:rPr lang="en-US" sz="1000" b="1" baseline="0" noProof="0" dirty="0"/>
              <a:t> – </a:t>
            </a:r>
            <a:r>
              <a:rPr lang="en-US" sz="1000" b="1" baseline="0" noProof="0" dirty="0" err="1"/>
              <a:t>Optimierung</a:t>
            </a:r>
            <a:br>
              <a:rPr lang="en-US" sz="1000" b="1" baseline="0" noProof="0" dirty="0"/>
            </a:br>
            <a:br>
              <a:rPr lang="en-US" sz="1000" b="1" baseline="0" noProof="0" dirty="0"/>
            </a:br>
            <a:endParaRPr lang="en-US" sz="1000" b="1" noProof="0" dirty="0"/>
          </a:p>
          <a:p>
            <a:pPr algn="r"/>
            <a:r>
              <a:rPr lang="en-US" sz="1000" b="1" noProof="0" dirty="0">
                <a:hlinkClick r:id="rId9"/>
              </a:rPr>
              <a:t>http://www.db-berater.de</a:t>
            </a:r>
            <a:endParaRPr lang="en-US" sz="1000" b="1" noProof="0" dirty="0"/>
          </a:p>
          <a:p>
            <a:pPr algn="r"/>
            <a:r>
              <a:rPr lang="en-US" sz="1000" b="1" noProof="0" dirty="0"/>
              <a:t>info@db-berater.de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E3090C9-CD56-60CA-9231-B8662A341995}"/>
              </a:ext>
            </a:extLst>
          </p:cNvPr>
          <p:cNvSpPr/>
          <p:nvPr/>
        </p:nvSpPr>
        <p:spPr>
          <a:xfrm>
            <a:off x="0" y="6309320"/>
            <a:ext cx="12192000" cy="54868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feld 7"/>
          <p:cNvSpPr txBox="1"/>
          <p:nvPr/>
        </p:nvSpPr>
        <p:spPr>
          <a:xfrm>
            <a:off x="9648395" y="6429773"/>
            <a:ext cx="229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noProof="0" dirty="0">
                <a:solidFill>
                  <a:schemeClr val="bg1"/>
                </a:solidFill>
              </a:rPr>
              <a:t>© db</a:t>
            </a:r>
            <a:r>
              <a:rPr lang="en-US" sz="1200" b="1" baseline="0" noProof="0" dirty="0">
                <a:solidFill>
                  <a:schemeClr val="bg1"/>
                </a:solidFill>
              </a:rPr>
              <a:t> Berater GmbH (</a:t>
            </a:r>
            <a:fld id="{918F7804-3F46-47BC-B8F6-F601438D5C89}" type="datetimeyyyy">
              <a:rPr lang="en-US" sz="1200" b="1" baseline="0" noProof="0" smtClean="0">
                <a:solidFill>
                  <a:schemeClr val="bg1"/>
                </a:solidFill>
              </a:rPr>
              <a:t>2026</a:t>
            </a:fld>
            <a:r>
              <a:rPr lang="en-US" sz="1200" b="1" baseline="0" noProof="0" dirty="0">
                <a:solidFill>
                  <a:schemeClr val="bg1"/>
                </a:solidFill>
              </a:rPr>
              <a:t>)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90584" y="6429773"/>
            <a:ext cx="4845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2"/>
                </a:solidFill>
              </a:rPr>
              <a:t>Author</a:t>
            </a:r>
            <a:r>
              <a:rPr lang="en-US" sz="1200" b="1" noProof="0" dirty="0">
                <a:solidFill>
                  <a:schemeClr val="bg1"/>
                </a:solidFill>
              </a:rPr>
              <a:t>: Uwe Ricken (Data Platform MVP / MCM)</a:t>
            </a:r>
          </a:p>
        </p:txBody>
      </p:sp>
    </p:spTree>
    <p:extLst>
      <p:ext uri="{BB962C8B-B14F-4D97-AF65-F5344CB8AC3E}">
        <p14:creationId xmlns:p14="http://schemas.microsoft.com/office/powerpoint/2010/main" val="4836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8" r:id="rId6"/>
    <p:sldLayoutId id="2147483719" r:id="rId7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228578" indent="-228578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5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b-berater.de/downloads/ERP_Demo_2012.bak" TargetMode="External"/><Relationship Id="rId2" Type="http://schemas.openxmlformats.org/officeDocument/2006/relationships/hyperlink" Target="https://github.com/db-berater/partitioning-for-beginner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.microsoft.com/fwlink/?linkid=2220149&amp;clcid=0x407&amp;culture=de-de&amp;country=de" TargetMode="External"/><Relationship Id="rId4" Type="http://schemas.openxmlformats.org/officeDocument/2006/relationships/hyperlink" Target="https://github.com/ErikEJ/SqlQueryStress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uwe.ricken@db-berater.de" TargetMode="External"/><Relationship Id="rId7" Type="http://schemas.openxmlformats.org/officeDocument/2006/relationships/image" Target="../media/image2.jpg"/><Relationship Id="rId2" Type="http://schemas.openxmlformats.org/officeDocument/2006/relationships/hyperlink" Target="http://www.db-berater.de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hyperlink" Target="https://bsky.app/profile/sqlbambi.bsky.social" TargetMode="External"/><Relationship Id="rId4" Type="http://schemas.openxmlformats.org/officeDocument/2006/relationships/hyperlink" Target="http://www.sqlmaster.de/" TargetMode="External"/><Relationship Id="rId9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qlchallenges.de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technet.microsoft.com/en-us/library/ms177484.aspx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Microsoft SQL Server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Index Analysis and Performance Improvement</a:t>
            </a:r>
            <a:r>
              <a:rPr lang="de-DE" dirty="0"/>
              <a:t> </a:t>
            </a:r>
            <a:br>
              <a:rPr lang="de-DE" dirty="0"/>
            </a:br>
            <a:endParaRPr lang="de-DE" dirty="0"/>
          </a:p>
          <a:p>
            <a:br>
              <a:rPr lang="de-DE" dirty="0"/>
            </a:br>
            <a:r>
              <a:rPr lang="de-DE" dirty="0"/>
              <a:t>Heap - Clustered Index – Non Clustered Index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499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66F59-B715-4CE2-83DF-6D035DD5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Links for </a:t>
            </a:r>
            <a:r>
              <a:rPr lang="de-DE" dirty="0" err="1"/>
              <a:t>this</a:t>
            </a:r>
            <a:r>
              <a:rPr lang="de-DE" dirty="0"/>
              <a:t> Session/Workshop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727BD7-7924-41DC-BF8D-0990B5F3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Scripts and Slide Decks</a:t>
            </a:r>
            <a:br>
              <a:rPr lang="de-DE" dirty="0"/>
            </a:br>
            <a:r>
              <a:rPr lang="de-DE" dirty="0">
                <a:hlinkClick r:id="rId2"/>
              </a:rPr>
              <a:t>https://github.com/db-berater/partitioning-for-beginners</a:t>
            </a:r>
            <a:endParaRPr lang="de-DE" dirty="0"/>
          </a:p>
          <a:p>
            <a:endParaRPr lang="de-DE" dirty="0"/>
          </a:p>
          <a:p>
            <a:r>
              <a:rPr lang="de-DE" dirty="0"/>
              <a:t>ERP Demo Database (17.00 GB)</a:t>
            </a:r>
            <a:br>
              <a:rPr lang="de-DE" dirty="0"/>
            </a:br>
            <a:r>
              <a:rPr lang="de-DE" dirty="0">
                <a:hlinkClick r:id="rId3"/>
              </a:rPr>
              <a:t>https://db-berater.de/downloads/ERP_Demo_2012.bak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SQLQueryStress</a:t>
            </a:r>
            <a:br>
              <a:rPr lang="de-DE" dirty="0"/>
            </a:br>
            <a:r>
              <a:rPr lang="de-DE" dirty="0">
                <a:hlinkClick r:id="rId4"/>
              </a:rPr>
              <a:t>https://github.com/ErikEJ/SqlQueryStress</a:t>
            </a:r>
            <a:endParaRPr lang="de-DE" dirty="0"/>
          </a:p>
          <a:p>
            <a:endParaRPr lang="de-DE" dirty="0"/>
          </a:p>
          <a:p>
            <a:r>
              <a:rPr lang="de-DE" dirty="0"/>
              <a:t>Windows Admin Center</a:t>
            </a:r>
            <a:br>
              <a:rPr lang="de-DE" dirty="0"/>
            </a:br>
            <a:r>
              <a:rPr lang="de-DE" dirty="0">
                <a:hlinkClick r:id="rId5"/>
              </a:rPr>
              <a:t>https://go.microsoft.com/fwlink/?linkid=2220149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296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Uwe Ricken</a:t>
            </a:r>
            <a:br>
              <a:rPr lang="de-DE" dirty="0"/>
            </a:br>
            <a:r>
              <a:rPr lang="de-DE" sz="1800" b="0" dirty="0"/>
              <a:t>db </a:t>
            </a:r>
            <a:r>
              <a:rPr lang="de-DE" sz="1800" b="0" dirty="0">
                <a:solidFill>
                  <a:schemeClr val="tx1"/>
                </a:solidFill>
              </a:rPr>
              <a:t>Berater GmbH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I am working with IT-systems since early 1990's and with the main focus on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 </a:t>
            </a:r>
            <a:r>
              <a:rPr lang="en-US" sz="1400" dirty="0"/>
              <a:t>since version 6.0. I started with development of database applications in 1998 with a professional CRM-System based on Microsoft products (Microsoft Office and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).</a:t>
            </a:r>
          </a:p>
          <a:p>
            <a:pPr marL="0" indent="0">
              <a:buNone/>
            </a:pPr>
            <a:br>
              <a:rPr lang="en-US" sz="1400" dirty="0"/>
            </a:br>
            <a:r>
              <a:rPr lang="en-US" sz="1400" dirty="0"/>
              <a:t>Since 2008 I'm focused exclusively on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 and working in 3rd level support teams for banks, insurances and global industries.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Since May 2013 I am a </a:t>
            </a:r>
            <a:r>
              <a:rPr lang="en-US" sz="1400" b="1" dirty="0">
                <a:solidFill>
                  <a:srgbClr val="FF0000"/>
                </a:solidFill>
              </a:rPr>
              <a:t>Microsoft Certified Master: SQL Server 2008 </a:t>
            </a:r>
            <a:r>
              <a:rPr lang="en-US" sz="1400" dirty="0"/>
              <a:t>which was an amazing way into the depth of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In July 2013 I have been awarded with the MVP Award for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.</a:t>
            </a:r>
            <a:endParaRPr lang="de-DE" sz="1400" dirty="0"/>
          </a:p>
        </p:txBody>
      </p:sp>
      <p:sp>
        <p:nvSpPr>
          <p:cNvPr id="6" name="Textplatzhalter 5"/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 err="1"/>
              <a:t>www</a:t>
            </a:r>
            <a:r>
              <a:rPr lang="de-DE" sz="1400" dirty="0"/>
              <a:t>:	</a:t>
            </a:r>
            <a:r>
              <a:rPr lang="de-DE" sz="1400" dirty="0">
                <a:hlinkClick r:id="rId2"/>
              </a:rPr>
              <a:t>http://www.db-berater.de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email</a:t>
            </a:r>
            <a:r>
              <a:rPr lang="de-DE" sz="1400" dirty="0"/>
              <a:t>:	</a:t>
            </a:r>
            <a:r>
              <a:rPr lang="de-DE" sz="1400" dirty="0">
                <a:hlinkClick r:id="rId3"/>
              </a:rPr>
              <a:t>uwe.ricken@db-berater.de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 err="1"/>
              <a:t>blog</a:t>
            </a:r>
            <a:r>
              <a:rPr lang="de-DE" sz="1400" dirty="0"/>
              <a:t>:	</a:t>
            </a:r>
            <a:r>
              <a:rPr lang="de-DE" sz="1400" dirty="0">
                <a:hlinkClick r:id="rId4"/>
              </a:rPr>
              <a:t>http://www.sqlmaster.de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 err="1"/>
              <a:t>BlueSky</a:t>
            </a:r>
            <a:r>
              <a:rPr lang="de-DE" sz="1400" dirty="0"/>
              <a:t>:	</a:t>
            </a:r>
            <a:r>
              <a:rPr lang="de-DE" sz="1400" dirty="0">
                <a:hlinkClick r:id="rId5"/>
              </a:rPr>
              <a:t>@sqlbambi</a:t>
            </a:r>
            <a:endParaRPr lang="de-DE" sz="14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3494589"/>
            <a:ext cx="1143000" cy="8358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72" y="3494589"/>
            <a:ext cx="1143000" cy="85725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3" y="4682333"/>
            <a:ext cx="1458955" cy="598545"/>
          </a:xfrm>
          <a:prstGeom prst="rect">
            <a:avLst/>
          </a:prstGeom>
        </p:spPr>
      </p:pic>
      <p:pic>
        <p:nvPicPr>
          <p:cNvPr id="5" name="Grafik 4" descr="Ein Bild, das Person, Mann, Brille, tragen enthält.&#10;&#10;Automatisch generierte Beschreibung">
            <a:extLst>
              <a:ext uri="{FF2B5EF4-FFF2-40B4-BE49-F238E27FC236}">
                <a16:creationId xmlns:a16="http://schemas.microsoft.com/office/drawing/2014/main" id="{46333317-A6F3-B2D3-B9F5-6B4A79A834B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58"/>
          <a:stretch/>
        </p:blipFill>
        <p:spPr>
          <a:xfrm>
            <a:off x="6499642" y="3429000"/>
            <a:ext cx="1715073" cy="185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8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341E920-2BA9-C6AC-D645-F3BC0BFB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066" y="2149215"/>
            <a:ext cx="6488975" cy="3617602"/>
          </a:xfrm>
          <a:prstGeom prst="rect">
            <a:avLst/>
          </a:prstGeom>
          <a:noFill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D5F1E84-96EA-2FC2-EB23-C97E371D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/>
          <a:p>
            <a:r>
              <a:rPr lang="en-US" dirty="0"/>
              <a:t>Get a challenge at least once a month</a:t>
            </a:r>
          </a:p>
          <a:p>
            <a:r>
              <a:rPr lang="en-US" dirty="0"/>
              <a:t>Connect to a provided SQL Server Instance</a:t>
            </a:r>
          </a:p>
          <a:p>
            <a:r>
              <a:rPr lang="en-US" dirty="0"/>
              <a:t>Load the challenge scenario</a:t>
            </a:r>
          </a:p>
          <a:p>
            <a:r>
              <a:rPr lang="en-US" dirty="0"/>
              <a:t>Try to solve it</a:t>
            </a:r>
          </a:p>
          <a:p>
            <a:r>
              <a:rPr lang="en-US" dirty="0"/>
              <a:t>Blog about your solution</a:t>
            </a:r>
          </a:p>
          <a:p>
            <a:r>
              <a:rPr lang="en-US" dirty="0"/>
              <a:t>Leave a link in the comments of the challenge to your blog post.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https://sqlchallenges</a:t>
            </a:r>
            <a:r>
              <a:rPr lang="en-US">
                <a:hlinkClick r:id="rId3"/>
              </a:rPr>
              <a:t>.de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6F77BBF-034A-A53E-C4B8-E4039AC9F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 anchor="ctr">
            <a:normAutofit/>
          </a:bodyPr>
          <a:lstStyle/>
          <a:p>
            <a:r>
              <a:rPr lang="en-US" dirty="0"/>
              <a:t>Challenge SQL Server real world scenarios</a:t>
            </a:r>
          </a:p>
        </p:txBody>
      </p:sp>
    </p:spTree>
    <p:extLst>
      <p:ext uri="{BB962C8B-B14F-4D97-AF65-F5344CB8AC3E}">
        <p14:creationId xmlns:p14="http://schemas.microsoft.com/office/powerpoint/2010/main" val="92011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  <a:endParaRPr lang="de-DE" dirty="0"/>
          </a:p>
        </p:txBody>
      </p:sp>
      <p:sp>
        <p:nvSpPr>
          <p:cNvPr id="8195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Indexstrukturen</a:t>
            </a:r>
          </a:p>
          <a:p>
            <a:pPr lvl="1"/>
            <a:r>
              <a:rPr lang="de-DE" dirty="0"/>
              <a:t>HEAP</a:t>
            </a:r>
          </a:p>
          <a:p>
            <a:pPr lvl="1"/>
            <a:r>
              <a:rPr lang="de-DE" dirty="0"/>
              <a:t>Clustered Index</a:t>
            </a:r>
          </a:p>
          <a:p>
            <a:pPr lvl="1"/>
            <a:r>
              <a:rPr lang="de-DE" dirty="0"/>
              <a:t>Non Clustered Index</a:t>
            </a:r>
          </a:p>
          <a:p>
            <a:r>
              <a:rPr lang="de-DE" dirty="0"/>
              <a:t>Interpretation von Abfrageoperatoren</a:t>
            </a:r>
          </a:p>
          <a:p>
            <a:pPr lvl="1"/>
            <a:r>
              <a:rPr lang="de-DE" dirty="0"/>
              <a:t>Table Scan / Clustered Index Scan</a:t>
            </a:r>
          </a:p>
          <a:p>
            <a:pPr lvl="1"/>
            <a:r>
              <a:rPr lang="de-DE" dirty="0"/>
              <a:t>Index </a:t>
            </a:r>
            <a:r>
              <a:rPr lang="de-DE" dirty="0" err="1"/>
              <a:t>Seek</a:t>
            </a:r>
            <a:endParaRPr lang="de-DE" dirty="0"/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Allgemeine Probleme mit Indexen</a:t>
            </a:r>
          </a:p>
          <a:p>
            <a:pPr lvl="1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Statistiken</a:t>
            </a:r>
          </a:p>
          <a:p>
            <a:pPr lvl="1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Parameter Sniffing</a:t>
            </a:r>
          </a:p>
          <a:p>
            <a:pPr lvl="1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Operator-Eliminierung durch CHECK-Einschränkung und Fremdschlüssel-Einschränkung</a:t>
            </a:r>
          </a:p>
          <a:p>
            <a:pPr lvl="1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Reihenfolge der Attribute in kombiniertem Index</a:t>
            </a:r>
          </a:p>
        </p:txBody>
      </p:sp>
    </p:spTree>
    <p:extLst>
      <p:ext uri="{BB962C8B-B14F-4D97-AF65-F5344CB8AC3E}">
        <p14:creationId xmlns:p14="http://schemas.microsoft.com/office/powerpoint/2010/main" val="688835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Indexstrukturen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HEAPS / CLUSTERED INDEXES / NONCLUSTERED INDEXES</a:t>
            </a:r>
          </a:p>
        </p:txBody>
      </p:sp>
    </p:spTree>
    <p:extLst>
      <p:ext uri="{BB962C8B-B14F-4D97-AF65-F5344CB8AC3E}">
        <p14:creationId xmlns:p14="http://schemas.microsoft.com/office/powerpoint/2010/main" val="1881194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Anatomie eines Heap?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6096778" y="1556792"/>
            <a:ext cx="41036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Arial" pitchFamily="34" charset="0"/>
              <a:buChar char="•"/>
            </a:pPr>
            <a:r>
              <a:rPr lang="de-DE" sz="2400" dirty="0"/>
              <a:t>Ein HEAP ist eine Tabelle ohne Ordnungskriterium.</a:t>
            </a:r>
          </a:p>
          <a:p>
            <a:pPr marL="285744" indent="-285744">
              <a:buFont typeface="Arial" pitchFamily="34" charset="0"/>
              <a:buChar char="•"/>
            </a:pPr>
            <a:endParaRPr lang="de-DE" sz="2400" dirty="0"/>
          </a:p>
          <a:p>
            <a:pPr marL="285744" indent="-285744">
              <a:buFont typeface="Arial" pitchFamily="34" charset="0"/>
              <a:buChar char="•"/>
            </a:pPr>
            <a:r>
              <a:rPr lang="de-DE" sz="2400" dirty="0"/>
              <a:t>Zwischen den einzelnen Datenseiten besteht KEINE direkte Verbindung</a:t>
            </a:r>
          </a:p>
        </p:txBody>
      </p:sp>
      <p:sp>
        <p:nvSpPr>
          <p:cNvPr id="7" name="Rechteck 6"/>
          <p:cNvSpPr/>
          <p:nvPr/>
        </p:nvSpPr>
        <p:spPr>
          <a:xfrm>
            <a:off x="649668" y="1509184"/>
            <a:ext cx="960107" cy="1587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67" dirty="0"/>
              <a:t>IAM</a:t>
            </a:r>
            <a:br>
              <a:rPr lang="de-DE" sz="1867" dirty="0"/>
            </a:br>
            <a:r>
              <a:rPr lang="de-DE" sz="1867" dirty="0"/>
              <a:t>110</a:t>
            </a:r>
            <a:br>
              <a:rPr lang="de-DE" sz="1867" dirty="0"/>
            </a:br>
            <a:r>
              <a:rPr lang="de-DE" sz="1867" dirty="0"/>
              <a:t>123</a:t>
            </a:r>
            <a:br>
              <a:rPr lang="de-DE" sz="1867" dirty="0"/>
            </a:br>
            <a:r>
              <a:rPr lang="de-DE" sz="1867" dirty="0"/>
              <a:t>150</a:t>
            </a:r>
            <a:br>
              <a:rPr lang="de-DE" sz="1867" dirty="0"/>
            </a:br>
            <a:r>
              <a:rPr lang="de-DE" sz="1867" dirty="0"/>
              <a:t>…</a:t>
            </a:r>
          </a:p>
        </p:txBody>
      </p:sp>
      <p:sp>
        <p:nvSpPr>
          <p:cNvPr id="8" name="Rechteck 7"/>
          <p:cNvSpPr/>
          <p:nvPr/>
        </p:nvSpPr>
        <p:spPr>
          <a:xfrm>
            <a:off x="670656" y="3812118"/>
            <a:ext cx="946605" cy="15872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L</a:t>
            </a:r>
            <a:br>
              <a:rPr lang="de-DE" sz="2400" dirty="0">
                <a:solidFill>
                  <a:schemeClr val="tx1"/>
                </a:solidFill>
              </a:rPr>
            </a:br>
            <a:r>
              <a:rPr lang="de-DE" sz="2400" dirty="0">
                <a:solidFill>
                  <a:schemeClr val="tx1"/>
                </a:solidFill>
              </a:rPr>
              <a:t>110</a:t>
            </a:r>
          </a:p>
        </p:txBody>
      </p:sp>
      <p:sp>
        <p:nvSpPr>
          <p:cNvPr id="9" name="Rechteck 8"/>
          <p:cNvSpPr/>
          <p:nvPr/>
        </p:nvSpPr>
        <p:spPr>
          <a:xfrm>
            <a:off x="1775520" y="3812118"/>
            <a:ext cx="960107" cy="15872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L</a:t>
            </a:r>
            <a:br>
              <a:rPr lang="de-DE" sz="2400" dirty="0">
                <a:solidFill>
                  <a:schemeClr val="tx1"/>
                </a:solidFill>
              </a:rPr>
            </a:br>
            <a:r>
              <a:rPr lang="de-DE" sz="2400" dirty="0">
                <a:solidFill>
                  <a:schemeClr val="tx1"/>
                </a:solidFill>
              </a:rPr>
              <a:t>123</a:t>
            </a:r>
          </a:p>
        </p:txBody>
      </p:sp>
      <p:sp>
        <p:nvSpPr>
          <p:cNvPr id="10" name="Rechteck 9"/>
          <p:cNvSpPr/>
          <p:nvPr/>
        </p:nvSpPr>
        <p:spPr>
          <a:xfrm>
            <a:off x="2899921" y="3812118"/>
            <a:ext cx="953356" cy="15872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L</a:t>
            </a:r>
            <a:br>
              <a:rPr lang="de-DE" sz="2400" dirty="0">
                <a:solidFill>
                  <a:schemeClr val="tx1"/>
                </a:solidFill>
              </a:rPr>
            </a:br>
            <a:r>
              <a:rPr lang="de-DE" sz="2400" dirty="0">
                <a:solidFill>
                  <a:schemeClr val="tx1"/>
                </a:solidFill>
              </a:rPr>
              <a:t>150</a:t>
            </a:r>
          </a:p>
        </p:txBody>
      </p:sp>
      <p:cxnSp>
        <p:nvCxnSpPr>
          <p:cNvPr id="20" name="Gerade Verbindung mit Pfeil 19"/>
          <p:cNvCxnSpPr>
            <a:stCxn id="7" idx="2"/>
            <a:endCxn id="8" idx="0"/>
          </p:cNvCxnSpPr>
          <p:nvPr/>
        </p:nvCxnSpPr>
        <p:spPr>
          <a:xfrm>
            <a:off x="1129722" y="3096469"/>
            <a:ext cx="14237" cy="71564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>
            <a:stCxn id="7" idx="2"/>
            <a:endCxn id="9" idx="0"/>
          </p:cNvCxnSpPr>
          <p:nvPr/>
        </p:nvCxnSpPr>
        <p:spPr>
          <a:xfrm>
            <a:off x="1129722" y="3096469"/>
            <a:ext cx="1125852" cy="71564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>
            <a:stCxn id="7" idx="2"/>
            <a:endCxn id="10" idx="0"/>
          </p:cNvCxnSpPr>
          <p:nvPr/>
        </p:nvCxnSpPr>
        <p:spPr>
          <a:xfrm>
            <a:off x="1129722" y="3096469"/>
            <a:ext cx="2246877" cy="71564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/>
          <p:cNvSpPr/>
          <p:nvPr/>
        </p:nvSpPr>
        <p:spPr>
          <a:xfrm>
            <a:off x="4017570" y="3812118"/>
            <a:ext cx="953356" cy="15872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L</a:t>
            </a:r>
            <a:br>
              <a:rPr lang="de-DE" sz="2400" dirty="0">
                <a:solidFill>
                  <a:schemeClr val="tx1"/>
                </a:solidFill>
              </a:rPr>
            </a:br>
            <a:r>
              <a:rPr lang="de-DE" sz="2400" dirty="0">
                <a:solidFill>
                  <a:schemeClr val="tx1"/>
                </a:solidFill>
              </a:rPr>
              <a:t>151</a:t>
            </a:r>
          </a:p>
        </p:txBody>
      </p:sp>
      <p:sp>
        <p:nvSpPr>
          <p:cNvPr id="19" name="Rechteck 18"/>
          <p:cNvSpPr/>
          <p:nvPr/>
        </p:nvSpPr>
        <p:spPr>
          <a:xfrm>
            <a:off x="5135219" y="3812118"/>
            <a:ext cx="953356" cy="15872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L</a:t>
            </a:r>
            <a:br>
              <a:rPr lang="de-DE" sz="2400" dirty="0">
                <a:solidFill>
                  <a:schemeClr val="tx1"/>
                </a:solidFill>
              </a:rPr>
            </a:br>
            <a:r>
              <a:rPr lang="de-DE" sz="2400" dirty="0">
                <a:solidFill>
                  <a:schemeClr val="tx1"/>
                </a:solidFill>
              </a:rPr>
              <a:t>152</a:t>
            </a:r>
          </a:p>
        </p:txBody>
      </p:sp>
      <p:cxnSp>
        <p:nvCxnSpPr>
          <p:cNvPr id="23" name="Gerade Verbindung mit Pfeil 22"/>
          <p:cNvCxnSpPr>
            <a:stCxn id="7" idx="2"/>
            <a:endCxn id="18" idx="0"/>
          </p:cNvCxnSpPr>
          <p:nvPr/>
        </p:nvCxnSpPr>
        <p:spPr>
          <a:xfrm>
            <a:off x="1129722" y="3096469"/>
            <a:ext cx="3364527" cy="71564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>
            <a:stCxn id="7" idx="2"/>
            <a:endCxn id="19" idx="0"/>
          </p:cNvCxnSpPr>
          <p:nvPr/>
        </p:nvCxnSpPr>
        <p:spPr>
          <a:xfrm>
            <a:off x="1129721" y="3096469"/>
            <a:ext cx="4482176" cy="71564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24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6376-EB02-59CF-9B1B-C1FFB7D7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98F8080-3DAB-144D-725F-CE976098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3" y="2498974"/>
            <a:ext cx="10363200" cy="1362075"/>
          </a:xfrm>
        </p:spPr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3F4BD8-1AD6-987F-B0CD-3CF158FAA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424" y="4509121"/>
            <a:ext cx="10363200" cy="1500187"/>
          </a:xfrm>
        </p:spPr>
        <p:txBody>
          <a:bodyPr/>
          <a:lstStyle/>
          <a:p>
            <a:r>
              <a:rPr lang="de-DE" dirty="0"/>
              <a:t>Aufbau </a:t>
            </a:r>
            <a:r>
              <a:rPr lang="de-DE"/>
              <a:t>von Heaps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5418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Clustered Index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6E2FF7B1-EB18-4F40-9680-6C415A973E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44" indent="-285744"/>
            <a:r>
              <a:rPr lang="en-US"/>
              <a:t>Clustered indexes sort and store the data rows in the table or view based on their key values.</a:t>
            </a:r>
          </a:p>
          <a:p>
            <a:pPr marL="285744" indent="-285744"/>
            <a:r>
              <a:rPr lang="en-US"/>
              <a:t>These are the columns included in the index definition.</a:t>
            </a:r>
          </a:p>
          <a:p>
            <a:pPr marL="285744" indent="-285744"/>
            <a:r>
              <a:rPr lang="en-US"/>
              <a:t>There can be only one clustered index per table, because the data rows themselves can be sorted in only one order.</a:t>
            </a:r>
          </a:p>
          <a:p>
            <a:pPr marL="285744" indent="-285744"/>
            <a:r>
              <a:rPr lang="en-US"/>
              <a:t>The only time the data rows in a table are stored in sorted order is when the table contains a clustered index.</a:t>
            </a:r>
          </a:p>
          <a:p>
            <a:endParaRPr lang="en-US"/>
          </a:p>
        </p:txBody>
      </p:sp>
      <p:sp>
        <p:nvSpPr>
          <p:cNvPr id="13" name="Rechteck 12"/>
          <p:cNvSpPr/>
          <p:nvPr/>
        </p:nvSpPr>
        <p:spPr>
          <a:xfrm>
            <a:off x="6407909" y="4860876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110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14" name="Rechteck 13"/>
          <p:cNvSpPr/>
          <p:nvPr/>
        </p:nvSpPr>
        <p:spPr>
          <a:xfrm>
            <a:off x="7318463" y="4863321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111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15" name="Rechteck 14"/>
          <p:cNvSpPr/>
          <p:nvPr/>
        </p:nvSpPr>
        <p:spPr>
          <a:xfrm>
            <a:off x="8229017" y="4874455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112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16" name="Rechteck 15"/>
          <p:cNvSpPr/>
          <p:nvPr/>
        </p:nvSpPr>
        <p:spPr>
          <a:xfrm>
            <a:off x="9139571" y="4874456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113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18" name="Rechteck 17"/>
          <p:cNvSpPr/>
          <p:nvPr/>
        </p:nvSpPr>
        <p:spPr>
          <a:xfrm>
            <a:off x="10050125" y="4873098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114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19" name="Rechteck 18"/>
          <p:cNvSpPr/>
          <p:nvPr/>
        </p:nvSpPr>
        <p:spPr>
          <a:xfrm>
            <a:off x="10960679" y="4875544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115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DC16769D-EF6A-4DB9-BBA0-9A38ED3D59E7}"/>
              </a:ext>
            </a:extLst>
          </p:cNvPr>
          <p:cNvSpPr/>
          <p:nvPr/>
        </p:nvSpPr>
        <p:spPr>
          <a:xfrm>
            <a:off x="8638399" y="1628775"/>
            <a:ext cx="661978" cy="1109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Root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9D13DE5A-F714-44AB-A476-27536406CFF9}"/>
              </a:ext>
            </a:extLst>
          </p:cNvPr>
          <p:cNvSpPr/>
          <p:nvPr/>
        </p:nvSpPr>
        <p:spPr>
          <a:xfrm>
            <a:off x="7700561" y="3125588"/>
            <a:ext cx="661978" cy="1109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Inter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med.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80EFAE73-1130-4D6F-A8EC-874E9FCEC653}"/>
              </a:ext>
            </a:extLst>
          </p:cNvPr>
          <p:cNvSpPr/>
          <p:nvPr/>
        </p:nvSpPr>
        <p:spPr>
          <a:xfrm>
            <a:off x="8641561" y="3125587"/>
            <a:ext cx="661978" cy="1109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Inter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med.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5712105D-01F7-48AE-9E02-92EFC4C0DC73}"/>
              </a:ext>
            </a:extLst>
          </p:cNvPr>
          <p:cNvSpPr/>
          <p:nvPr/>
        </p:nvSpPr>
        <p:spPr>
          <a:xfrm>
            <a:off x="9588911" y="3125586"/>
            <a:ext cx="661978" cy="1109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Inter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med.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node</a:t>
            </a:r>
          </a:p>
        </p:txBody>
      </p:sp>
      <p:cxnSp>
        <p:nvCxnSpPr>
          <p:cNvPr id="71" name="Verbinder: gewinkelt 70">
            <a:extLst>
              <a:ext uri="{FF2B5EF4-FFF2-40B4-BE49-F238E27FC236}">
                <a16:creationId xmlns:a16="http://schemas.microsoft.com/office/drawing/2014/main" id="{F4106F44-C9C7-47BD-BDD3-39E6CDFDB776}"/>
              </a:ext>
            </a:extLst>
          </p:cNvPr>
          <p:cNvCxnSpPr>
            <a:stCxn id="66" idx="2"/>
            <a:endCxn id="67" idx="0"/>
          </p:cNvCxnSpPr>
          <p:nvPr/>
        </p:nvCxnSpPr>
        <p:spPr>
          <a:xfrm rot="5400000">
            <a:off x="8306818" y="2463018"/>
            <a:ext cx="387302" cy="93783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31EFD05D-EA2C-488D-A74F-F2AEAE06E3A4}"/>
              </a:ext>
            </a:extLst>
          </p:cNvPr>
          <p:cNvCxnSpPr>
            <a:stCxn id="66" idx="2"/>
            <a:endCxn id="68" idx="0"/>
          </p:cNvCxnSpPr>
          <p:nvPr/>
        </p:nvCxnSpPr>
        <p:spPr>
          <a:xfrm rot="16200000" flipH="1">
            <a:off x="8777319" y="2930355"/>
            <a:ext cx="387301" cy="316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514ECD7D-D52B-420B-81D1-A41D22EB421F}"/>
              </a:ext>
            </a:extLst>
          </p:cNvPr>
          <p:cNvCxnSpPr>
            <a:stCxn id="66" idx="2"/>
            <a:endCxn id="69" idx="0"/>
          </p:cNvCxnSpPr>
          <p:nvPr/>
        </p:nvCxnSpPr>
        <p:spPr>
          <a:xfrm rot="16200000" flipH="1">
            <a:off x="9250994" y="2456680"/>
            <a:ext cx="387300" cy="95051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Verbinder: gewinkelt 77">
            <a:extLst>
              <a:ext uri="{FF2B5EF4-FFF2-40B4-BE49-F238E27FC236}">
                <a16:creationId xmlns:a16="http://schemas.microsoft.com/office/drawing/2014/main" id="{8D4C430D-F5F3-4B05-974C-0181B3DC8F68}"/>
              </a:ext>
            </a:extLst>
          </p:cNvPr>
          <p:cNvCxnSpPr>
            <a:stCxn id="67" idx="2"/>
            <a:endCxn id="13" idx="0"/>
          </p:cNvCxnSpPr>
          <p:nvPr/>
        </p:nvCxnSpPr>
        <p:spPr>
          <a:xfrm rot="5400000">
            <a:off x="7072336" y="3901661"/>
            <a:ext cx="625777" cy="129265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Verbinder: gewinkelt 79">
            <a:extLst>
              <a:ext uri="{FF2B5EF4-FFF2-40B4-BE49-F238E27FC236}">
                <a16:creationId xmlns:a16="http://schemas.microsoft.com/office/drawing/2014/main" id="{C9BEE6AC-57A5-48AF-BF8B-B2AEAC0D933F}"/>
              </a:ext>
            </a:extLst>
          </p:cNvPr>
          <p:cNvCxnSpPr>
            <a:stCxn id="67" idx="2"/>
            <a:endCxn id="14" idx="0"/>
          </p:cNvCxnSpPr>
          <p:nvPr/>
        </p:nvCxnSpPr>
        <p:spPr>
          <a:xfrm rot="5400000">
            <a:off x="7526390" y="4358161"/>
            <a:ext cx="628222" cy="38209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Verbinder: gewinkelt 81">
            <a:extLst>
              <a:ext uri="{FF2B5EF4-FFF2-40B4-BE49-F238E27FC236}">
                <a16:creationId xmlns:a16="http://schemas.microsoft.com/office/drawing/2014/main" id="{A9C3203A-14F9-435E-A2A3-C63D3A5BCAE8}"/>
              </a:ext>
            </a:extLst>
          </p:cNvPr>
          <p:cNvCxnSpPr>
            <a:stCxn id="68" idx="2"/>
            <a:endCxn id="15" idx="0"/>
          </p:cNvCxnSpPr>
          <p:nvPr/>
        </p:nvCxnSpPr>
        <p:spPr>
          <a:xfrm rot="5400000">
            <a:off x="8446600" y="4348504"/>
            <a:ext cx="639357" cy="41254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Verbinder: gewinkelt 83">
            <a:extLst>
              <a:ext uri="{FF2B5EF4-FFF2-40B4-BE49-F238E27FC236}">
                <a16:creationId xmlns:a16="http://schemas.microsoft.com/office/drawing/2014/main" id="{139D8861-7ADF-43F2-86D9-DA4710E53F71}"/>
              </a:ext>
            </a:extLst>
          </p:cNvPr>
          <p:cNvCxnSpPr>
            <a:stCxn id="68" idx="2"/>
            <a:endCxn id="16" idx="0"/>
          </p:cNvCxnSpPr>
          <p:nvPr/>
        </p:nvCxnSpPr>
        <p:spPr>
          <a:xfrm rot="16200000" flipH="1">
            <a:off x="8901876" y="4305772"/>
            <a:ext cx="639358" cy="49801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Verbinder: gewinkelt 85">
            <a:extLst>
              <a:ext uri="{FF2B5EF4-FFF2-40B4-BE49-F238E27FC236}">
                <a16:creationId xmlns:a16="http://schemas.microsoft.com/office/drawing/2014/main" id="{BE54D475-8E0E-4561-B7E0-EE1B9882FE27}"/>
              </a:ext>
            </a:extLst>
          </p:cNvPr>
          <p:cNvCxnSpPr>
            <a:stCxn id="69" idx="2"/>
            <a:endCxn id="18" idx="0"/>
          </p:cNvCxnSpPr>
          <p:nvPr/>
        </p:nvCxnSpPr>
        <p:spPr>
          <a:xfrm rot="16200000" flipH="1">
            <a:off x="9831507" y="4323490"/>
            <a:ext cx="638001" cy="46121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Verbinder: gewinkelt 87">
            <a:extLst>
              <a:ext uri="{FF2B5EF4-FFF2-40B4-BE49-F238E27FC236}">
                <a16:creationId xmlns:a16="http://schemas.microsoft.com/office/drawing/2014/main" id="{56AE6BB5-5E1B-4802-9C4C-9D785900C861}"/>
              </a:ext>
            </a:extLst>
          </p:cNvPr>
          <p:cNvCxnSpPr>
            <a:stCxn id="69" idx="2"/>
            <a:endCxn id="19" idx="0"/>
          </p:cNvCxnSpPr>
          <p:nvPr/>
        </p:nvCxnSpPr>
        <p:spPr>
          <a:xfrm rot="16200000" flipH="1">
            <a:off x="10285561" y="3869436"/>
            <a:ext cx="640447" cy="137176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671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Clustered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5428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6489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0554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9" name="Elbow Connector 18"/>
          <p:cNvCxnSpPr>
            <a:cxnSpLocks/>
            <a:stCxn id="119" idx="2"/>
            <a:endCxn id="12" idx="0"/>
          </p:cNvCxnSpPr>
          <p:nvPr/>
        </p:nvCxnSpPr>
        <p:spPr>
          <a:xfrm rot="5400000">
            <a:off x="1935117" y="3674841"/>
            <a:ext cx="477048" cy="13972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cxnSpLocks/>
            <a:stCxn id="119" idx="2"/>
            <a:endCxn id="13" idx="0"/>
          </p:cNvCxnSpPr>
          <p:nvPr/>
        </p:nvCxnSpPr>
        <p:spPr>
          <a:xfrm rot="5400000">
            <a:off x="2505648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cxnSpLocks/>
            <a:stCxn id="119" idx="2"/>
            <a:endCxn id="14" idx="0"/>
          </p:cNvCxnSpPr>
          <p:nvPr/>
        </p:nvCxnSpPr>
        <p:spPr>
          <a:xfrm rot="16200000" flipH="1">
            <a:off x="3091490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12">
            <a:extLst>
              <a:ext uri="{FF2B5EF4-FFF2-40B4-BE49-F238E27FC236}">
                <a16:creationId xmlns:a16="http://schemas.microsoft.com/office/drawing/2014/main" id="{EC5944B9-62EB-44D9-888A-3B01800D8BFB}"/>
              </a:ext>
            </a:extLst>
          </p:cNvPr>
          <p:cNvSpPr/>
          <p:nvPr/>
        </p:nvSpPr>
        <p:spPr>
          <a:xfrm>
            <a:off x="4451833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60" name="Rectangle 13">
            <a:extLst>
              <a:ext uri="{FF2B5EF4-FFF2-40B4-BE49-F238E27FC236}">
                <a16:creationId xmlns:a16="http://schemas.microsoft.com/office/drawing/2014/main" id="{D0D494D9-8F6D-4012-8127-5C2DA467A622}"/>
              </a:ext>
            </a:extLst>
          </p:cNvPr>
          <p:cNvSpPr/>
          <p:nvPr/>
        </p:nvSpPr>
        <p:spPr>
          <a:xfrm>
            <a:off x="5615898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63" name="Elbow Connector 22">
            <a:extLst>
              <a:ext uri="{FF2B5EF4-FFF2-40B4-BE49-F238E27FC236}">
                <a16:creationId xmlns:a16="http://schemas.microsoft.com/office/drawing/2014/main" id="{B1BBE4F2-13E7-484B-A320-F3353F80EE5B}"/>
              </a:ext>
            </a:extLst>
          </p:cNvPr>
          <p:cNvCxnSpPr>
            <a:cxnSpLocks/>
            <a:stCxn id="121" idx="2"/>
            <a:endCxn id="60" idx="0"/>
          </p:cNvCxnSpPr>
          <p:nvPr/>
        </p:nvCxnSpPr>
        <p:spPr>
          <a:xfrm rot="16200000" flipH="1">
            <a:off x="5406834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12">
            <a:extLst>
              <a:ext uri="{FF2B5EF4-FFF2-40B4-BE49-F238E27FC236}">
                <a16:creationId xmlns:a16="http://schemas.microsoft.com/office/drawing/2014/main" id="{B82081A7-03FA-4067-AE08-29405AF59299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824A77EB-843C-4B1C-A549-20609B8073CC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70" name="Elbow Connector 22">
            <a:extLst>
              <a:ext uri="{FF2B5EF4-FFF2-40B4-BE49-F238E27FC236}">
                <a16:creationId xmlns:a16="http://schemas.microsoft.com/office/drawing/2014/main" id="{3E69DE81-A806-4B66-8C42-D91874E7987D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7424471" y="3996909"/>
            <a:ext cx="986373" cy="6074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12">
            <a:extLst>
              <a:ext uri="{FF2B5EF4-FFF2-40B4-BE49-F238E27FC236}">
                <a16:creationId xmlns:a16="http://schemas.microsoft.com/office/drawing/2014/main" id="{0A868B6B-7361-45A1-9DE5-AC85B971107C}"/>
              </a:ext>
            </a:extLst>
          </p:cNvPr>
          <p:cNvSpPr/>
          <p:nvPr/>
        </p:nvSpPr>
        <p:spPr>
          <a:xfrm>
            <a:off x="9082521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4" name="Rectangle 13">
            <a:extLst>
              <a:ext uri="{FF2B5EF4-FFF2-40B4-BE49-F238E27FC236}">
                <a16:creationId xmlns:a16="http://schemas.microsoft.com/office/drawing/2014/main" id="{11AEF074-BFA9-47AD-BE8C-C7A5F7BADE52}"/>
              </a:ext>
            </a:extLst>
          </p:cNvPr>
          <p:cNvSpPr/>
          <p:nvPr/>
        </p:nvSpPr>
        <p:spPr>
          <a:xfrm>
            <a:off x="10246586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76" name="Elbow Connector 20">
            <a:extLst>
              <a:ext uri="{FF2B5EF4-FFF2-40B4-BE49-F238E27FC236}">
                <a16:creationId xmlns:a16="http://schemas.microsoft.com/office/drawing/2014/main" id="{87A215EF-0771-4537-A1FE-8E796E9C8E57}"/>
              </a:ext>
            </a:extLst>
          </p:cNvPr>
          <p:cNvCxnSpPr>
            <a:cxnSpLocks/>
            <a:stCxn id="123" idx="2"/>
            <a:endCxn id="73" idx="0"/>
          </p:cNvCxnSpPr>
          <p:nvPr/>
        </p:nvCxnSpPr>
        <p:spPr>
          <a:xfrm rot="5400000">
            <a:off x="9451680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22">
            <a:extLst>
              <a:ext uri="{FF2B5EF4-FFF2-40B4-BE49-F238E27FC236}">
                <a16:creationId xmlns:a16="http://schemas.microsoft.com/office/drawing/2014/main" id="{94E88A15-7CE5-4633-9C62-3A42E1FAB8E4}"/>
              </a:ext>
            </a:extLst>
          </p:cNvPr>
          <p:cNvCxnSpPr>
            <a:cxnSpLocks/>
            <a:stCxn id="123" idx="2"/>
            <a:endCxn id="74" idx="0"/>
          </p:cNvCxnSpPr>
          <p:nvPr/>
        </p:nvCxnSpPr>
        <p:spPr>
          <a:xfrm rot="16200000" flipH="1">
            <a:off x="10037522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Verbinder: gewinkelt 97">
            <a:extLst>
              <a:ext uri="{FF2B5EF4-FFF2-40B4-BE49-F238E27FC236}">
                <a16:creationId xmlns:a16="http://schemas.microsoft.com/office/drawing/2014/main" id="{C80C8C75-EFE0-4DF5-98D1-3FD9DCA2FDB0}"/>
              </a:ext>
            </a:extLst>
          </p:cNvPr>
          <p:cNvCxnSpPr>
            <a:cxnSpLocks/>
            <a:stCxn id="121" idx="2"/>
            <a:endCxn id="59" idx="0"/>
          </p:cNvCxnSpPr>
          <p:nvPr/>
        </p:nvCxnSpPr>
        <p:spPr>
          <a:xfrm rot="5400000">
            <a:off x="4820992" y="4245372"/>
            <a:ext cx="477048" cy="256161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Verbinder: gewinkelt 99">
            <a:extLst>
              <a:ext uri="{FF2B5EF4-FFF2-40B4-BE49-F238E27FC236}">
                <a16:creationId xmlns:a16="http://schemas.microsoft.com/office/drawing/2014/main" id="{CD9EE095-0248-425A-92C9-408582D1DBD6}"/>
              </a:ext>
            </a:extLst>
          </p:cNvPr>
          <p:cNvCxnSpPr>
            <a:cxnSpLocks/>
            <a:stCxn id="122" idx="2"/>
            <a:endCxn id="66" idx="0"/>
          </p:cNvCxnSpPr>
          <p:nvPr/>
        </p:nvCxnSpPr>
        <p:spPr>
          <a:xfrm rot="5400000">
            <a:off x="7136336" y="4245372"/>
            <a:ext cx="477048" cy="256161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3">
            <a:extLst>
              <a:ext uri="{FF2B5EF4-FFF2-40B4-BE49-F238E27FC236}">
                <a16:creationId xmlns:a16="http://schemas.microsoft.com/office/drawing/2014/main" id="{43AA6F97-5727-4619-91C3-A24EA4157A54}"/>
              </a:ext>
            </a:extLst>
          </p:cNvPr>
          <p:cNvSpPr/>
          <p:nvPr/>
        </p:nvSpPr>
        <p:spPr>
          <a:xfrm>
            <a:off x="5078083" y="1628775"/>
            <a:ext cx="2035834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Root Node</a:t>
            </a:r>
          </a:p>
        </p:txBody>
      </p:sp>
      <p:sp>
        <p:nvSpPr>
          <p:cNvPr id="119" name="Rectangle 5">
            <a:extLst>
              <a:ext uri="{FF2B5EF4-FFF2-40B4-BE49-F238E27FC236}">
                <a16:creationId xmlns:a16="http://schemas.microsoft.com/office/drawing/2014/main" id="{B5BF6D85-1464-405E-BE70-0D45494A8D76}"/>
              </a:ext>
            </a:extLst>
          </p:cNvPr>
          <p:cNvSpPr/>
          <p:nvPr/>
        </p:nvSpPr>
        <p:spPr>
          <a:xfrm>
            <a:off x="1954631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Intermediate Node</a:t>
            </a:r>
          </a:p>
        </p:txBody>
      </p:sp>
      <p:cxnSp>
        <p:nvCxnSpPr>
          <p:cNvPr id="120" name="Elbow Connector 8">
            <a:extLst>
              <a:ext uri="{FF2B5EF4-FFF2-40B4-BE49-F238E27FC236}">
                <a16:creationId xmlns:a16="http://schemas.microsoft.com/office/drawing/2014/main" id="{39F4DEE4-7CD6-4241-B47C-702BA0CE9559}"/>
              </a:ext>
            </a:extLst>
          </p:cNvPr>
          <p:cNvCxnSpPr>
            <a:cxnSpLocks/>
            <a:stCxn id="118" idx="2"/>
            <a:endCxn id="119" idx="0"/>
          </p:cNvCxnSpPr>
          <p:nvPr/>
        </p:nvCxnSpPr>
        <p:spPr>
          <a:xfrm rot="5400000">
            <a:off x="4310549" y="1104878"/>
            <a:ext cx="347155" cy="32237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5">
            <a:extLst>
              <a:ext uri="{FF2B5EF4-FFF2-40B4-BE49-F238E27FC236}">
                <a16:creationId xmlns:a16="http://schemas.microsoft.com/office/drawing/2014/main" id="{257900DF-2877-4A49-BDA1-5D7F78C2124D}"/>
              </a:ext>
            </a:extLst>
          </p:cNvPr>
          <p:cNvSpPr/>
          <p:nvPr/>
        </p:nvSpPr>
        <p:spPr>
          <a:xfrm>
            <a:off x="4269975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Intermediate Node</a:t>
            </a:r>
          </a:p>
        </p:txBody>
      </p:sp>
      <p:sp>
        <p:nvSpPr>
          <p:cNvPr id="122" name="Rectangle 5">
            <a:extLst>
              <a:ext uri="{FF2B5EF4-FFF2-40B4-BE49-F238E27FC236}">
                <a16:creationId xmlns:a16="http://schemas.microsoft.com/office/drawing/2014/main" id="{7980B2D2-62A7-43E5-A41E-665A055CC712}"/>
              </a:ext>
            </a:extLst>
          </p:cNvPr>
          <p:cNvSpPr/>
          <p:nvPr/>
        </p:nvSpPr>
        <p:spPr>
          <a:xfrm>
            <a:off x="6585319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Intermediate Node</a:t>
            </a:r>
          </a:p>
        </p:txBody>
      </p:sp>
      <p:sp>
        <p:nvSpPr>
          <p:cNvPr id="123" name="Rectangle 5">
            <a:extLst>
              <a:ext uri="{FF2B5EF4-FFF2-40B4-BE49-F238E27FC236}">
                <a16:creationId xmlns:a16="http://schemas.microsoft.com/office/drawing/2014/main" id="{CBC2A5E5-E441-4D46-8CB1-A164753F7612}"/>
              </a:ext>
            </a:extLst>
          </p:cNvPr>
          <p:cNvSpPr/>
          <p:nvPr/>
        </p:nvSpPr>
        <p:spPr>
          <a:xfrm>
            <a:off x="8900663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Intermediate Node</a:t>
            </a:r>
          </a:p>
        </p:txBody>
      </p:sp>
      <p:cxnSp>
        <p:nvCxnSpPr>
          <p:cNvPr id="124" name="Verbinder: gewinkelt 123">
            <a:extLst>
              <a:ext uri="{FF2B5EF4-FFF2-40B4-BE49-F238E27FC236}">
                <a16:creationId xmlns:a16="http://schemas.microsoft.com/office/drawing/2014/main" id="{82EE296C-F8DE-46A9-B41E-3924BFB02C55}"/>
              </a:ext>
            </a:extLst>
          </p:cNvPr>
          <p:cNvCxnSpPr>
            <a:cxnSpLocks/>
            <a:stCxn id="118" idx="2"/>
            <a:endCxn id="122" idx="0"/>
          </p:cNvCxnSpPr>
          <p:nvPr/>
        </p:nvCxnSpPr>
        <p:spPr>
          <a:xfrm rot="16200000" flipH="1">
            <a:off x="6625893" y="2013282"/>
            <a:ext cx="347155" cy="14069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Verbinder: gewinkelt 124">
            <a:extLst>
              <a:ext uri="{FF2B5EF4-FFF2-40B4-BE49-F238E27FC236}">
                <a16:creationId xmlns:a16="http://schemas.microsoft.com/office/drawing/2014/main" id="{E826C635-DDFC-4D37-99C9-7A816BEE5399}"/>
              </a:ext>
            </a:extLst>
          </p:cNvPr>
          <p:cNvCxnSpPr>
            <a:cxnSpLocks/>
            <a:stCxn id="118" idx="2"/>
            <a:endCxn id="123" idx="0"/>
          </p:cNvCxnSpPr>
          <p:nvPr/>
        </p:nvCxnSpPr>
        <p:spPr>
          <a:xfrm rot="16200000" flipH="1">
            <a:off x="7783565" y="855610"/>
            <a:ext cx="347155" cy="372228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Verbinder: gewinkelt 125">
            <a:extLst>
              <a:ext uri="{FF2B5EF4-FFF2-40B4-BE49-F238E27FC236}">
                <a16:creationId xmlns:a16="http://schemas.microsoft.com/office/drawing/2014/main" id="{E75D9696-2A5D-4EF0-B98D-7887553798DE}"/>
              </a:ext>
            </a:extLst>
          </p:cNvPr>
          <p:cNvCxnSpPr>
            <a:stCxn id="118" idx="2"/>
            <a:endCxn id="121" idx="0"/>
          </p:cNvCxnSpPr>
          <p:nvPr/>
        </p:nvCxnSpPr>
        <p:spPr>
          <a:xfrm rot="5400000">
            <a:off x="5468221" y="2262550"/>
            <a:ext cx="347155" cy="9084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25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Clustered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78083" y="1628775"/>
            <a:ext cx="2035834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(Id)</a:t>
            </a:r>
            <a:br>
              <a:rPr lang="en-US" sz="1400" b="1" dirty="0"/>
            </a:br>
            <a:r>
              <a:rPr lang="en-US" sz="1400" b="1" dirty="0"/>
              <a:t>NULL – 2500</a:t>
            </a:r>
            <a:br>
              <a:rPr lang="en-US" sz="1400" b="1" dirty="0"/>
            </a:br>
            <a:r>
              <a:rPr lang="en-US" sz="1400" b="1" dirty="0"/>
              <a:t>2501 – 5000</a:t>
            </a:r>
          </a:p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954631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NULL - 2500</a:t>
            </a:r>
          </a:p>
        </p:txBody>
      </p:sp>
      <p:cxnSp>
        <p:nvCxnSpPr>
          <p:cNvPr id="9" name="Elbow Connector 8"/>
          <p:cNvCxnSpPr>
            <a:cxnSpLocks/>
            <a:stCxn id="4" idx="2"/>
            <a:endCxn id="6" idx="0"/>
          </p:cNvCxnSpPr>
          <p:nvPr/>
        </p:nvCxnSpPr>
        <p:spPr>
          <a:xfrm rot="5400000">
            <a:off x="4310549" y="1104878"/>
            <a:ext cx="347155" cy="32237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5428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1.234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6489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2109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0554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2487</a:t>
            </a:r>
          </a:p>
        </p:txBody>
      </p:sp>
      <p:cxnSp>
        <p:nvCxnSpPr>
          <p:cNvPr id="19" name="Elbow Connector 18"/>
          <p:cNvCxnSpPr>
            <a:cxnSpLocks/>
            <a:stCxn id="6" idx="2"/>
            <a:endCxn id="12" idx="0"/>
          </p:cNvCxnSpPr>
          <p:nvPr/>
        </p:nvCxnSpPr>
        <p:spPr>
          <a:xfrm rot="5400000">
            <a:off x="1935117" y="3674841"/>
            <a:ext cx="477048" cy="13972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cxnSpLocks/>
            <a:stCxn id="6" idx="2"/>
            <a:endCxn id="13" idx="0"/>
          </p:cNvCxnSpPr>
          <p:nvPr/>
        </p:nvCxnSpPr>
        <p:spPr>
          <a:xfrm rot="5400000">
            <a:off x="2505648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3091490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">
            <a:extLst>
              <a:ext uri="{FF2B5EF4-FFF2-40B4-BE49-F238E27FC236}">
                <a16:creationId xmlns:a16="http://schemas.microsoft.com/office/drawing/2014/main" id="{4A6529AE-AD95-4F73-B90F-02609808DE3A}"/>
              </a:ext>
            </a:extLst>
          </p:cNvPr>
          <p:cNvSpPr/>
          <p:nvPr/>
        </p:nvSpPr>
        <p:spPr>
          <a:xfrm>
            <a:off x="4269975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2501 – 5000 </a:t>
            </a:r>
          </a:p>
        </p:txBody>
      </p:sp>
      <p:sp>
        <p:nvSpPr>
          <p:cNvPr id="59" name="Rectangle 12">
            <a:extLst>
              <a:ext uri="{FF2B5EF4-FFF2-40B4-BE49-F238E27FC236}">
                <a16:creationId xmlns:a16="http://schemas.microsoft.com/office/drawing/2014/main" id="{EC5944B9-62EB-44D9-888A-3B01800D8BFB}"/>
              </a:ext>
            </a:extLst>
          </p:cNvPr>
          <p:cNvSpPr/>
          <p:nvPr/>
        </p:nvSpPr>
        <p:spPr>
          <a:xfrm>
            <a:off x="4451833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2700</a:t>
            </a:r>
          </a:p>
        </p:txBody>
      </p:sp>
      <p:sp>
        <p:nvSpPr>
          <p:cNvPr id="60" name="Rectangle 13">
            <a:extLst>
              <a:ext uri="{FF2B5EF4-FFF2-40B4-BE49-F238E27FC236}">
                <a16:creationId xmlns:a16="http://schemas.microsoft.com/office/drawing/2014/main" id="{D0D494D9-8F6D-4012-8127-5C2DA467A622}"/>
              </a:ext>
            </a:extLst>
          </p:cNvPr>
          <p:cNvSpPr/>
          <p:nvPr/>
        </p:nvSpPr>
        <p:spPr>
          <a:xfrm>
            <a:off x="5615898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4999</a:t>
            </a:r>
          </a:p>
        </p:txBody>
      </p:sp>
      <p:cxnSp>
        <p:nvCxnSpPr>
          <p:cNvPr id="62" name="Elbow Connector 20">
            <a:extLst>
              <a:ext uri="{FF2B5EF4-FFF2-40B4-BE49-F238E27FC236}">
                <a16:creationId xmlns:a16="http://schemas.microsoft.com/office/drawing/2014/main" id="{3744037C-CD4B-40FD-93AF-541B839DE802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rot="5400000">
            <a:off x="4820992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22">
            <a:extLst>
              <a:ext uri="{FF2B5EF4-FFF2-40B4-BE49-F238E27FC236}">
                <a16:creationId xmlns:a16="http://schemas.microsoft.com/office/drawing/2014/main" id="{B1BBE4F2-13E7-484B-A320-F3353F80EE5B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rot="16200000" flipH="1">
            <a:off x="5406834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5">
            <a:extLst>
              <a:ext uri="{FF2B5EF4-FFF2-40B4-BE49-F238E27FC236}">
                <a16:creationId xmlns:a16="http://schemas.microsoft.com/office/drawing/2014/main" id="{551A9BA4-549E-4D5F-8B23-58562301920D}"/>
              </a:ext>
            </a:extLst>
          </p:cNvPr>
          <p:cNvSpPr/>
          <p:nvPr/>
        </p:nvSpPr>
        <p:spPr>
          <a:xfrm>
            <a:off x="6585319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6" name="Rectangle 12">
            <a:extLst>
              <a:ext uri="{FF2B5EF4-FFF2-40B4-BE49-F238E27FC236}">
                <a16:creationId xmlns:a16="http://schemas.microsoft.com/office/drawing/2014/main" id="{B82081A7-03FA-4067-AE08-29405AF59299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5145</a:t>
            </a: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824A77EB-843C-4B1C-A549-20609B8073CC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7345</a:t>
            </a:r>
          </a:p>
        </p:txBody>
      </p:sp>
      <p:cxnSp>
        <p:nvCxnSpPr>
          <p:cNvPr id="69" name="Elbow Connector 20">
            <a:extLst>
              <a:ext uri="{FF2B5EF4-FFF2-40B4-BE49-F238E27FC236}">
                <a16:creationId xmlns:a16="http://schemas.microsoft.com/office/drawing/2014/main" id="{61755CD2-4B78-4A37-9D47-303AF55BA387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rot="5400000">
            <a:off x="7136336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22">
            <a:extLst>
              <a:ext uri="{FF2B5EF4-FFF2-40B4-BE49-F238E27FC236}">
                <a16:creationId xmlns:a16="http://schemas.microsoft.com/office/drawing/2014/main" id="{3E69DE81-A806-4B66-8C42-D91874E7987D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 rot="16200000" flipH="1">
            <a:off x="7722178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5">
            <a:extLst>
              <a:ext uri="{FF2B5EF4-FFF2-40B4-BE49-F238E27FC236}">
                <a16:creationId xmlns:a16="http://schemas.microsoft.com/office/drawing/2014/main" id="{E7408927-EA71-4F43-BB67-9D83F0B505A1}"/>
              </a:ext>
            </a:extLst>
          </p:cNvPr>
          <p:cNvSpPr/>
          <p:nvPr/>
        </p:nvSpPr>
        <p:spPr>
          <a:xfrm>
            <a:off x="8900663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7501 – 10000</a:t>
            </a:r>
          </a:p>
        </p:txBody>
      </p:sp>
      <p:sp>
        <p:nvSpPr>
          <p:cNvPr id="73" name="Rectangle 12">
            <a:extLst>
              <a:ext uri="{FF2B5EF4-FFF2-40B4-BE49-F238E27FC236}">
                <a16:creationId xmlns:a16="http://schemas.microsoft.com/office/drawing/2014/main" id="{0A868B6B-7361-45A1-9DE5-AC85B971107C}"/>
              </a:ext>
            </a:extLst>
          </p:cNvPr>
          <p:cNvSpPr/>
          <p:nvPr/>
        </p:nvSpPr>
        <p:spPr>
          <a:xfrm>
            <a:off x="9082521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7890</a:t>
            </a:r>
          </a:p>
        </p:txBody>
      </p:sp>
      <p:sp>
        <p:nvSpPr>
          <p:cNvPr id="74" name="Rectangle 13">
            <a:extLst>
              <a:ext uri="{FF2B5EF4-FFF2-40B4-BE49-F238E27FC236}">
                <a16:creationId xmlns:a16="http://schemas.microsoft.com/office/drawing/2014/main" id="{11AEF074-BFA9-47AD-BE8C-C7A5F7BADE52}"/>
              </a:ext>
            </a:extLst>
          </p:cNvPr>
          <p:cNvSpPr/>
          <p:nvPr/>
        </p:nvSpPr>
        <p:spPr>
          <a:xfrm>
            <a:off x="10246586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9999</a:t>
            </a:r>
          </a:p>
        </p:txBody>
      </p:sp>
      <p:cxnSp>
        <p:nvCxnSpPr>
          <p:cNvPr id="76" name="Elbow Connector 20">
            <a:extLst>
              <a:ext uri="{FF2B5EF4-FFF2-40B4-BE49-F238E27FC236}">
                <a16:creationId xmlns:a16="http://schemas.microsoft.com/office/drawing/2014/main" id="{87A215EF-0771-4537-A1FE-8E796E9C8E57}"/>
              </a:ext>
            </a:extLst>
          </p:cNvPr>
          <p:cNvCxnSpPr>
            <a:cxnSpLocks/>
            <a:stCxn id="71" idx="2"/>
            <a:endCxn id="73" idx="0"/>
          </p:cNvCxnSpPr>
          <p:nvPr/>
        </p:nvCxnSpPr>
        <p:spPr>
          <a:xfrm rot="5400000">
            <a:off x="9451680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22">
            <a:extLst>
              <a:ext uri="{FF2B5EF4-FFF2-40B4-BE49-F238E27FC236}">
                <a16:creationId xmlns:a16="http://schemas.microsoft.com/office/drawing/2014/main" id="{94E88A15-7CE5-4633-9C62-3A42E1FAB8E4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16200000" flipH="1">
            <a:off x="10037522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8FF94B52-3090-47B9-A9C6-C8EDE58D7185}"/>
              </a:ext>
            </a:extLst>
          </p:cNvPr>
          <p:cNvCxnSpPr>
            <a:cxnSpLocks/>
            <a:stCxn id="4" idx="2"/>
            <a:endCxn id="64" idx="0"/>
          </p:cNvCxnSpPr>
          <p:nvPr/>
        </p:nvCxnSpPr>
        <p:spPr>
          <a:xfrm rot="16200000" flipH="1">
            <a:off x="6625893" y="2013282"/>
            <a:ext cx="347155" cy="14069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Verbinder: gewinkelt 80">
            <a:extLst>
              <a:ext uri="{FF2B5EF4-FFF2-40B4-BE49-F238E27FC236}">
                <a16:creationId xmlns:a16="http://schemas.microsoft.com/office/drawing/2014/main" id="{92A0A211-7F65-41EA-BAA7-74B015620CB3}"/>
              </a:ext>
            </a:extLst>
          </p:cNvPr>
          <p:cNvCxnSpPr>
            <a:cxnSpLocks/>
            <a:stCxn id="4" idx="2"/>
            <a:endCxn id="71" idx="0"/>
          </p:cNvCxnSpPr>
          <p:nvPr/>
        </p:nvCxnSpPr>
        <p:spPr>
          <a:xfrm rot="16200000" flipH="1">
            <a:off x="7783565" y="855610"/>
            <a:ext cx="347155" cy="372228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BE10B2AA-18D1-48F4-9EC0-31FF8D17BF4A}"/>
              </a:ext>
            </a:extLst>
          </p:cNvPr>
          <p:cNvCxnSpPr>
            <a:stCxn id="4" idx="2"/>
            <a:endCxn id="57" idx="0"/>
          </p:cNvCxnSpPr>
          <p:nvPr/>
        </p:nvCxnSpPr>
        <p:spPr>
          <a:xfrm rot="5400000">
            <a:off x="5468221" y="2262550"/>
            <a:ext cx="347155" cy="9084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40">
            <a:extLst>
              <a:ext uri="{FF2B5EF4-FFF2-40B4-BE49-F238E27FC236}">
                <a16:creationId xmlns:a16="http://schemas.microsoft.com/office/drawing/2014/main" id="{699FB49F-B427-4F4F-BE08-97DD3F440668}"/>
              </a:ext>
            </a:extLst>
          </p:cNvPr>
          <p:cNvSpPr txBox="1"/>
          <p:nvPr/>
        </p:nvSpPr>
        <p:spPr>
          <a:xfrm>
            <a:off x="194848" y="1634757"/>
            <a:ext cx="787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2</a:t>
            </a:r>
          </a:p>
        </p:txBody>
      </p:sp>
      <p:sp>
        <p:nvSpPr>
          <p:cNvPr id="56" name="TextBox 41">
            <a:extLst>
              <a:ext uri="{FF2B5EF4-FFF2-40B4-BE49-F238E27FC236}">
                <a16:creationId xmlns:a16="http://schemas.microsoft.com/office/drawing/2014/main" id="{CF40DAB4-8DF4-4BCE-91F7-AD43BA6011A0}"/>
              </a:ext>
            </a:extLst>
          </p:cNvPr>
          <p:cNvSpPr txBox="1"/>
          <p:nvPr/>
        </p:nvSpPr>
        <p:spPr>
          <a:xfrm>
            <a:off x="192843" y="2889250"/>
            <a:ext cx="802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1</a:t>
            </a:r>
          </a:p>
        </p:txBody>
      </p:sp>
      <p:sp>
        <p:nvSpPr>
          <p:cNvPr id="58" name="TextBox 42">
            <a:extLst>
              <a:ext uri="{FF2B5EF4-FFF2-40B4-BE49-F238E27FC236}">
                <a16:creationId xmlns:a16="http://schemas.microsoft.com/office/drawing/2014/main" id="{EA83008E-3951-49FA-87A3-E1249B32D3F5}"/>
              </a:ext>
            </a:extLst>
          </p:cNvPr>
          <p:cNvSpPr txBox="1"/>
          <p:nvPr/>
        </p:nvSpPr>
        <p:spPr>
          <a:xfrm>
            <a:off x="192088" y="4616450"/>
            <a:ext cx="803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0</a:t>
            </a:r>
          </a:p>
        </p:txBody>
      </p:sp>
    </p:spTree>
    <p:extLst>
      <p:ext uri="{BB962C8B-B14F-4D97-AF65-F5344CB8AC3E}">
        <p14:creationId xmlns:p14="http://schemas.microsoft.com/office/powerpoint/2010/main" val="229797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3">
            <a:extLst>
              <a:ext uri="{FF2B5EF4-FFF2-40B4-BE49-F238E27FC236}">
                <a16:creationId xmlns:a16="http://schemas.microsoft.com/office/drawing/2014/main" id="{FA9A2328-5D97-4658-A46C-CE27AE91EDDB}"/>
              </a:ext>
            </a:extLst>
          </p:cNvPr>
          <p:cNvSpPr/>
          <p:nvPr/>
        </p:nvSpPr>
        <p:spPr>
          <a:xfrm>
            <a:off x="331077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2487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Clustered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67865" y="1628775"/>
            <a:ext cx="2035834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(Id)</a:t>
            </a:r>
            <a:br>
              <a:rPr lang="en-US" sz="1400" b="1" dirty="0"/>
            </a:br>
            <a:r>
              <a:rPr lang="en-US" sz="1400" b="1" dirty="0"/>
              <a:t>NULL – 2500</a:t>
            </a:r>
            <a:br>
              <a:rPr lang="en-US" sz="1400" b="1" dirty="0"/>
            </a:br>
            <a:r>
              <a:rPr lang="en-US" sz="1400" b="1" dirty="0"/>
              <a:t>2501 – 5000</a:t>
            </a:r>
          </a:p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413" y="2890330"/>
            <a:ext cx="1835241" cy="12445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NULL - 2500</a:t>
            </a:r>
          </a:p>
        </p:txBody>
      </p:sp>
      <p:cxnSp>
        <p:nvCxnSpPr>
          <p:cNvPr id="9" name="Elbow Connector 8"/>
          <p:cNvCxnSpPr>
            <a:cxnSpLocks/>
            <a:stCxn id="4" idx="2"/>
            <a:endCxn id="6" idx="0"/>
          </p:cNvCxnSpPr>
          <p:nvPr/>
        </p:nvCxnSpPr>
        <p:spPr>
          <a:xfrm rot="5400000">
            <a:off x="4300331" y="1104878"/>
            <a:ext cx="347155" cy="32237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5428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1.234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6489" y="4611976"/>
            <a:ext cx="959203" cy="152169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2109</a:t>
            </a:r>
          </a:p>
        </p:txBody>
      </p:sp>
      <p:cxnSp>
        <p:nvCxnSpPr>
          <p:cNvPr id="19" name="Elbow Connector 18"/>
          <p:cNvCxnSpPr>
            <a:cxnSpLocks/>
            <a:stCxn id="6" idx="2"/>
            <a:endCxn id="12" idx="0"/>
          </p:cNvCxnSpPr>
          <p:nvPr/>
        </p:nvCxnSpPr>
        <p:spPr>
          <a:xfrm rot="5400000">
            <a:off x="1930008" y="3679950"/>
            <a:ext cx="477048" cy="13870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cxnSpLocks/>
            <a:stCxn id="6" idx="2"/>
            <a:endCxn id="13" idx="0"/>
          </p:cNvCxnSpPr>
          <p:nvPr/>
        </p:nvCxnSpPr>
        <p:spPr>
          <a:xfrm rot="5400000">
            <a:off x="2500539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cxnSpLocks/>
            <a:stCxn id="6" idx="2"/>
          </p:cNvCxnSpPr>
          <p:nvPr/>
        </p:nvCxnSpPr>
        <p:spPr>
          <a:xfrm rot="16200000" flipH="1">
            <a:off x="3086381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">
            <a:extLst>
              <a:ext uri="{FF2B5EF4-FFF2-40B4-BE49-F238E27FC236}">
                <a16:creationId xmlns:a16="http://schemas.microsoft.com/office/drawing/2014/main" id="{4A6529AE-AD95-4F73-B90F-02609808DE3A}"/>
              </a:ext>
            </a:extLst>
          </p:cNvPr>
          <p:cNvSpPr/>
          <p:nvPr/>
        </p:nvSpPr>
        <p:spPr>
          <a:xfrm>
            <a:off x="4259757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2501 – 5000 </a:t>
            </a:r>
          </a:p>
        </p:txBody>
      </p:sp>
      <p:sp>
        <p:nvSpPr>
          <p:cNvPr id="59" name="Rectangle 12">
            <a:extLst>
              <a:ext uri="{FF2B5EF4-FFF2-40B4-BE49-F238E27FC236}">
                <a16:creationId xmlns:a16="http://schemas.microsoft.com/office/drawing/2014/main" id="{EC5944B9-62EB-44D9-888A-3B01800D8BFB}"/>
              </a:ext>
            </a:extLst>
          </p:cNvPr>
          <p:cNvSpPr/>
          <p:nvPr/>
        </p:nvSpPr>
        <p:spPr>
          <a:xfrm>
            <a:off x="4451833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2700</a:t>
            </a:r>
          </a:p>
        </p:txBody>
      </p:sp>
      <p:sp>
        <p:nvSpPr>
          <p:cNvPr id="60" name="Rectangle 13">
            <a:extLst>
              <a:ext uri="{FF2B5EF4-FFF2-40B4-BE49-F238E27FC236}">
                <a16:creationId xmlns:a16="http://schemas.microsoft.com/office/drawing/2014/main" id="{D0D494D9-8F6D-4012-8127-5C2DA467A622}"/>
              </a:ext>
            </a:extLst>
          </p:cNvPr>
          <p:cNvSpPr/>
          <p:nvPr/>
        </p:nvSpPr>
        <p:spPr>
          <a:xfrm>
            <a:off x="5615898" y="4604356"/>
            <a:ext cx="959203" cy="15216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4999</a:t>
            </a:r>
          </a:p>
        </p:txBody>
      </p:sp>
      <p:cxnSp>
        <p:nvCxnSpPr>
          <p:cNvPr id="62" name="Elbow Connector 20">
            <a:extLst>
              <a:ext uri="{FF2B5EF4-FFF2-40B4-BE49-F238E27FC236}">
                <a16:creationId xmlns:a16="http://schemas.microsoft.com/office/drawing/2014/main" id="{3744037C-CD4B-40FD-93AF-541B839DE802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rot="5400000">
            <a:off x="4815883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22">
            <a:extLst>
              <a:ext uri="{FF2B5EF4-FFF2-40B4-BE49-F238E27FC236}">
                <a16:creationId xmlns:a16="http://schemas.microsoft.com/office/drawing/2014/main" id="{B1BBE4F2-13E7-484B-A320-F3353F80EE5B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rot="16200000" flipH="1">
            <a:off x="5401725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5">
            <a:extLst>
              <a:ext uri="{FF2B5EF4-FFF2-40B4-BE49-F238E27FC236}">
                <a16:creationId xmlns:a16="http://schemas.microsoft.com/office/drawing/2014/main" id="{551A9BA4-549E-4D5F-8B23-58562301920D}"/>
              </a:ext>
            </a:extLst>
          </p:cNvPr>
          <p:cNvSpPr/>
          <p:nvPr/>
        </p:nvSpPr>
        <p:spPr>
          <a:xfrm>
            <a:off x="6575101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6" name="Rectangle 12">
            <a:extLst>
              <a:ext uri="{FF2B5EF4-FFF2-40B4-BE49-F238E27FC236}">
                <a16:creationId xmlns:a16="http://schemas.microsoft.com/office/drawing/2014/main" id="{B82081A7-03FA-4067-AE08-29405AF59299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5145</a:t>
            </a: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824A77EB-843C-4B1C-A549-20609B8073CC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7345</a:t>
            </a:r>
          </a:p>
        </p:txBody>
      </p:sp>
      <p:cxnSp>
        <p:nvCxnSpPr>
          <p:cNvPr id="69" name="Elbow Connector 20">
            <a:extLst>
              <a:ext uri="{FF2B5EF4-FFF2-40B4-BE49-F238E27FC236}">
                <a16:creationId xmlns:a16="http://schemas.microsoft.com/office/drawing/2014/main" id="{61755CD2-4B78-4A37-9D47-303AF55BA387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rot="5400000">
            <a:off x="7131227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22">
            <a:extLst>
              <a:ext uri="{FF2B5EF4-FFF2-40B4-BE49-F238E27FC236}">
                <a16:creationId xmlns:a16="http://schemas.microsoft.com/office/drawing/2014/main" id="{3E69DE81-A806-4B66-8C42-D91874E7987D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 rot="16200000" flipH="1">
            <a:off x="7717069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5">
            <a:extLst>
              <a:ext uri="{FF2B5EF4-FFF2-40B4-BE49-F238E27FC236}">
                <a16:creationId xmlns:a16="http://schemas.microsoft.com/office/drawing/2014/main" id="{E7408927-EA71-4F43-BB67-9D83F0B505A1}"/>
              </a:ext>
            </a:extLst>
          </p:cNvPr>
          <p:cNvSpPr/>
          <p:nvPr/>
        </p:nvSpPr>
        <p:spPr>
          <a:xfrm>
            <a:off x="8890445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7501 – 10000</a:t>
            </a:r>
          </a:p>
        </p:txBody>
      </p:sp>
      <p:sp>
        <p:nvSpPr>
          <p:cNvPr id="73" name="Rectangle 12">
            <a:extLst>
              <a:ext uri="{FF2B5EF4-FFF2-40B4-BE49-F238E27FC236}">
                <a16:creationId xmlns:a16="http://schemas.microsoft.com/office/drawing/2014/main" id="{0A868B6B-7361-45A1-9DE5-AC85B971107C}"/>
              </a:ext>
            </a:extLst>
          </p:cNvPr>
          <p:cNvSpPr/>
          <p:nvPr/>
        </p:nvSpPr>
        <p:spPr>
          <a:xfrm>
            <a:off x="9072303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7890</a:t>
            </a:r>
          </a:p>
        </p:txBody>
      </p:sp>
      <p:sp>
        <p:nvSpPr>
          <p:cNvPr id="74" name="Rectangle 13">
            <a:extLst>
              <a:ext uri="{FF2B5EF4-FFF2-40B4-BE49-F238E27FC236}">
                <a16:creationId xmlns:a16="http://schemas.microsoft.com/office/drawing/2014/main" id="{11AEF074-BFA9-47AD-BE8C-C7A5F7BADE52}"/>
              </a:ext>
            </a:extLst>
          </p:cNvPr>
          <p:cNvSpPr/>
          <p:nvPr/>
        </p:nvSpPr>
        <p:spPr>
          <a:xfrm>
            <a:off x="10236368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9999</a:t>
            </a:r>
          </a:p>
        </p:txBody>
      </p:sp>
      <p:cxnSp>
        <p:nvCxnSpPr>
          <p:cNvPr id="76" name="Elbow Connector 20">
            <a:extLst>
              <a:ext uri="{FF2B5EF4-FFF2-40B4-BE49-F238E27FC236}">
                <a16:creationId xmlns:a16="http://schemas.microsoft.com/office/drawing/2014/main" id="{87A215EF-0771-4537-A1FE-8E796E9C8E57}"/>
              </a:ext>
            </a:extLst>
          </p:cNvPr>
          <p:cNvCxnSpPr>
            <a:cxnSpLocks/>
            <a:stCxn id="71" idx="2"/>
            <a:endCxn id="73" idx="0"/>
          </p:cNvCxnSpPr>
          <p:nvPr/>
        </p:nvCxnSpPr>
        <p:spPr>
          <a:xfrm rot="5400000">
            <a:off x="9441462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22">
            <a:extLst>
              <a:ext uri="{FF2B5EF4-FFF2-40B4-BE49-F238E27FC236}">
                <a16:creationId xmlns:a16="http://schemas.microsoft.com/office/drawing/2014/main" id="{94E88A15-7CE5-4633-9C62-3A42E1FAB8E4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16200000" flipH="1">
            <a:off x="10027304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8FF94B52-3090-47B9-A9C6-C8EDE58D7185}"/>
              </a:ext>
            </a:extLst>
          </p:cNvPr>
          <p:cNvCxnSpPr>
            <a:cxnSpLocks/>
            <a:stCxn id="4" idx="2"/>
            <a:endCxn id="64" idx="0"/>
          </p:cNvCxnSpPr>
          <p:nvPr/>
        </p:nvCxnSpPr>
        <p:spPr>
          <a:xfrm rot="16200000" flipH="1">
            <a:off x="6615675" y="2013282"/>
            <a:ext cx="347155" cy="14069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Verbinder: gewinkelt 80">
            <a:extLst>
              <a:ext uri="{FF2B5EF4-FFF2-40B4-BE49-F238E27FC236}">
                <a16:creationId xmlns:a16="http://schemas.microsoft.com/office/drawing/2014/main" id="{92A0A211-7F65-41EA-BAA7-74B015620CB3}"/>
              </a:ext>
            </a:extLst>
          </p:cNvPr>
          <p:cNvCxnSpPr>
            <a:cxnSpLocks/>
            <a:stCxn id="4" idx="2"/>
            <a:endCxn id="71" idx="0"/>
          </p:cNvCxnSpPr>
          <p:nvPr/>
        </p:nvCxnSpPr>
        <p:spPr>
          <a:xfrm rot="16200000" flipH="1">
            <a:off x="7773347" y="855610"/>
            <a:ext cx="347155" cy="372228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BE10B2AA-18D1-48F4-9EC0-31FF8D17BF4A}"/>
              </a:ext>
            </a:extLst>
          </p:cNvPr>
          <p:cNvCxnSpPr>
            <a:stCxn id="4" idx="2"/>
            <a:endCxn id="57" idx="0"/>
          </p:cNvCxnSpPr>
          <p:nvPr/>
        </p:nvCxnSpPr>
        <p:spPr>
          <a:xfrm rot="5400000">
            <a:off x="5458003" y="2262550"/>
            <a:ext cx="347155" cy="9084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40">
            <a:extLst>
              <a:ext uri="{FF2B5EF4-FFF2-40B4-BE49-F238E27FC236}">
                <a16:creationId xmlns:a16="http://schemas.microsoft.com/office/drawing/2014/main" id="{699FB49F-B427-4F4F-BE08-97DD3F440668}"/>
              </a:ext>
            </a:extLst>
          </p:cNvPr>
          <p:cNvSpPr txBox="1"/>
          <p:nvPr/>
        </p:nvSpPr>
        <p:spPr>
          <a:xfrm>
            <a:off x="194848" y="1634757"/>
            <a:ext cx="787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2</a:t>
            </a:r>
          </a:p>
        </p:txBody>
      </p:sp>
      <p:sp>
        <p:nvSpPr>
          <p:cNvPr id="56" name="TextBox 41">
            <a:extLst>
              <a:ext uri="{FF2B5EF4-FFF2-40B4-BE49-F238E27FC236}">
                <a16:creationId xmlns:a16="http://schemas.microsoft.com/office/drawing/2014/main" id="{CF40DAB4-8DF4-4BCE-91F7-AD43BA6011A0}"/>
              </a:ext>
            </a:extLst>
          </p:cNvPr>
          <p:cNvSpPr txBox="1"/>
          <p:nvPr/>
        </p:nvSpPr>
        <p:spPr>
          <a:xfrm>
            <a:off x="192843" y="2889250"/>
            <a:ext cx="802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1</a:t>
            </a:r>
          </a:p>
        </p:txBody>
      </p:sp>
      <p:sp>
        <p:nvSpPr>
          <p:cNvPr id="58" name="TextBox 42">
            <a:extLst>
              <a:ext uri="{FF2B5EF4-FFF2-40B4-BE49-F238E27FC236}">
                <a16:creationId xmlns:a16="http://schemas.microsoft.com/office/drawing/2014/main" id="{EA83008E-3951-49FA-87A3-E1249B32D3F5}"/>
              </a:ext>
            </a:extLst>
          </p:cNvPr>
          <p:cNvSpPr txBox="1"/>
          <p:nvPr/>
        </p:nvSpPr>
        <p:spPr>
          <a:xfrm>
            <a:off x="192088" y="4616450"/>
            <a:ext cx="803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0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5F65DE-FBBA-4925-8BA5-A8902597D254}"/>
              </a:ext>
            </a:extLst>
          </p:cNvPr>
          <p:cNvSpPr txBox="1"/>
          <p:nvPr/>
        </p:nvSpPr>
        <p:spPr>
          <a:xfrm>
            <a:off x="1954631" y="1627511"/>
            <a:ext cx="3123452" cy="92333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SELECT</a:t>
            </a:r>
            <a:r>
              <a:rPr lang="de-DE" dirty="0">
                <a:latin typeface="Lucida Sans" panose="020B0602030504020204" pitchFamily="34" charset="0"/>
              </a:rPr>
              <a:t>	*</a:t>
            </a:r>
            <a:br>
              <a:rPr lang="de-DE" dirty="0">
                <a:latin typeface="Lucida Sans" panose="020B0602030504020204" pitchFamily="34" charset="0"/>
              </a:rPr>
            </a:br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FROM</a:t>
            </a:r>
            <a:r>
              <a:rPr lang="de-DE" dirty="0">
                <a:latin typeface="Lucida Sans" panose="020B0602030504020204" pitchFamily="34" charset="0"/>
              </a:rPr>
              <a:t>	</a:t>
            </a:r>
            <a:r>
              <a:rPr lang="de-DE" dirty="0" err="1">
                <a:latin typeface="Lucida Sans" panose="020B0602030504020204" pitchFamily="34" charset="0"/>
              </a:rPr>
              <a:t>dbo.Customers</a:t>
            </a:r>
            <a:endParaRPr lang="de-DE" dirty="0">
              <a:latin typeface="Lucida Sans" panose="020B0602030504020204" pitchFamily="34" charset="0"/>
            </a:endParaRPr>
          </a:p>
          <a:p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WHERE</a:t>
            </a:r>
            <a:r>
              <a:rPr lang="de-DE" dirty="0">
                <a:latin typeface="Lucida Sans" panose="020B0602030504020204" pitchFamily="34" charset="0"/>
              </a:rPr>
              <a:t>	</a:t>
            </a:r>
            <a:r>
              <a:rPr lang="de-DE" dirty="0" err="1">
                <a:latin typeface="Lucida Sans" panose="020B0602030504020204" pitchFamily="34" charset="0"/>
              </a:rPr>
              <a:t>Id</a:t>
            </a:r>
            <a:r>
              <a:rPr lang="de-DE" dirty="0">
                <a:latin typeface="Lucida Sans" panose="020B0602030504020204" pitchFamily="34" charset="0"/>
              </a:rPr>
              <a:t> = 2109</a:t>
            </a:r>
            <a:r>
              <a:rPr lang="de-DE" dirty="0"/>
              <a:t>;</a:t>
            </a:r>
          </a:p>
        </p:txBody>
      </p:sp>
      <p:sp>
        <p:nvSpPr>
          <p:cNvPr id="43" name="Rectangle 13">
            <a:extLst>
              <a:ext uri="{FF2B5EF4-FFF2-40B4-BE49-F238E27FC236}">
                <a16:creationId xmlns:a16="http://schemas.microsoft.com/office/drawing/2014/main" id="{1E416072-9FD9-4D2D-A095-7E72F04F256D}"/>
              </a:ext>
            </a:extLst>
          </p:cNvPr>
          <p:cNvSpPr/>
          <p:nvPr/>
        </p:nvSpPr>
        <p:spPr>
          <a:xfrm>
            <a:off x="5626116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4999</a:t>
            </a: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A0659323-42E0-419F-8F79-D9EDF8E002C1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5145</a:t>
            </a: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9113C874-A1F7-49B9-A0C2-7B4F61E0E5D7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7345</a:t>
            </a:r>
          </a:p>
        </p:txBody>
      </p:sp>
    </p:spTree>
    <p:extLst>
      <p:ext uri="{BB962C8B-B14F-4D97-AF65-F5344CB8AC3E}">
        <p14:creationId xmlns:p14="http://schemas.microsoft.com/office/powerpoint/2010/main" val="289346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3">
            <a:extLst>
              <a:ext uri="{FF2B5EF4-FFF2-40B4-BE49-F238E27FC236}">
                <a16:creationId xmlns:a16="http://schemas.microsoft.com/office/drawing/2014/main" id="{FA9A2328-5D97-4658-A46C-CE27AE91EDDB}"/>
              </a:ext>
            </a:extLst>
          </p:cNvPr>
          <p:cNvSpPr/>
          <p:nvPr/>
        </p:nvSpPr>
        <p:spPr>
          <a:xfrm>
            <a:off x="331077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2487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Clustered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67865" y="1628775"/>
            <a:ext cx="2035834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(Id)</a:t>
            </a:r>
            <a:br>
              <a:rPr lang="en-US" sz="1400" b="1" dirty="0"/>
            </a:br>
            <a:r>
              <a:rPr lang="en-US" sz="1400" b="1" dirty="0"/>
              <a:t>NULL – 2500</a:t>
            </a:r>
            <a:br>
              <a:rPr lang="en-US" sz="1400" b="1" dirty="0"/>
            </a:br>
            <a:r>
              <a:rPr lang="en-US" sz="1400" b="1" dirty="0"/>
              <a:t>2501 – 5000</a:t>
            </a:r>
          </a:p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413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NULL </a:t>
            </a:r>
            <a:r>
              <a:rPr lang="en-US" sz="1400" b="1"/>
              <a:t>- 2500</a:t>
            </a:r>
            <a:endParaRPr lang="en-US" sz="1400" b="1" dirty="0"/>
          </a:p>
        </p:txBody>
      </p:sp>
      <p:cxnSp>
        <p:nvCxnSpPr>
          <p:cNvPr id="9" name="Elbow Connector 8"/>
          <p:cNvCxnSpPr>
            <a:cxnSpLocks/>
            <a:stCxn id="4" idx="2"/>
            <a:endCxn id="6" idx="0"/>
          </p:cNvCxnSpPr>
          <p:nvPr/>
        </p:nvCxnSpPr>
        <p:spPr>
          <a:xfrm rot="5400000">
            <a:off x="4300331" y="1104878"/>
            <a:ext cx="347155" cy="32237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5428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1.234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6489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2109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19" name="Elbow Connector 18"/>
          <p:cNvCxnSpPr>
            <a:cxnSpLocks/>
            <a:stCxn id="6" idx="2"/>
            <a:endCxn id="12" idx="0"/>
          </p:cNvCxnSpPr>
          <p:nvPr/>
        </p:nvCxnSpPr>
        <p:spPr>
          <a:xfrm rot="5400000">
            <a:off x="1930008" y="3679950"/>
            <a:ext cx="477048" cy="13870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cxnSpLocks/>
            <a:stCxn id="6" idx="2"/>
            <a:endCxn id="13" idx="0"/>
          </p:cNvCxnSpPr>
          <p:nvPr/>
        </p:nvCxnSpPr>
        <p:spPr>
          <a:xfrm rot="5400000">
            <a:off x="2500539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cxnSpLocks/>
            <a:stCxn id="6" idx="2"/>
          </p:cNvCxnSpPr>
          <p:nvPr/>
        </p:nvCxnSpPr>
        <p:spPr>
          <a:xfrm rot="16200000" flipH="1">
            <a:off x="3086381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">
            <a:extLst>
              <a:ext uri="{FF2B5EF4-FFF2-40B4-BE49-F238E27FC236}">
                <a16:creationId xmlns:a16="http://schemas.microsoft.com/office/drawing/2014/main" id="{4A6529AE-AD95-4F73-B90F-02609808DE3A}"/>
              </a:ext>
            </a:extLst>
          </p:cNvPr>
          <p:cNvSpPr/>
          <p:nvPr/>
        </p:nvSpPr>
        <p:spPr>
          <a:xfrm>
            <a:off x="4259757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2501 – 5000 </a:t>
            </a:r>
          </a:p>
        </p:txBody>
      </p:sp>
      <p:sp>
        <p:nvSpPr>
          <p:cNvPr id="59" name="Rectangle 12">
            <a:extLst>
              <a:ext uri="{FF2B5EF4-FFF2-40B4-BE49-F238E27FC236}">
                <a16:creationId xmlns:a16="http://schemas.microsoft.com/office/drawing/2014/main" id="{EC5944B9-62EB-44D9-888A-3B01800D8BFB}"/>
              </a:ext>
            </a:extLst>
          </p:cNvPr>
          <p:cNvSpPr/>
          <p:nvPr/>
        </p:nvSpPr>
        <p:spPr>
          <a:xfrm>
            <a:off x="4451833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2700</a:t>
            </a:r>
          </a:p>
        </p:txBody>
      </p:sp>
      <p:sp>
        <p:nvSpPr>
          <p:cNvPr id="60" name="Rectangle 13">
            <a:extLst>
              <a:ext uri="{FF2B5EF4-FFF2-40B4-BE49-F238E27FC236}">
                <a16:creationId xmlns:a16="http://schemas.microsoft.com/office/drawing/2014/main" id="{D0D494D9-8F6D-4012-8127-5C2DA467A622}"/>
              </a:ext>
            </a:extLst>
          </p:cNvPr>
          <p:cNvSpPr/>
          <p:nvPr/>
        </p:nvSpPr>
        <p:spPr>
          <a:xfrm>
            <a:off x="5615898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4999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2" name="Elbow Connector 20">
            <a:extLst>
              <a:ext uri="{FF2B5EF4-FFF2-40B4-BE49-F238E27FC236}">
                <a16:creationId xmlns:a16="http://schemas.microsoft.com/office/drawing/2014/main" id="{3744037C-CD4B-40FD-93AF-541B839DE802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rot="5400000">
            <a:off x="4815883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22">
            <a:extLst>
              <a:ext uri="{FF2B5EF4-FFF2-40B4-BE49-F238E27FC236}">
                <a16:creationId xmlns:a16="http://schemas.microsoft.com/office/drawing/2014/main" id="{B1BBE4F2-13E7-484B-A320-F3353F80EE5B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rot="16200000" flipH="1">
            <a:off x="5401725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5">
            <a:extLst>
              <a:ext uri="{FF2B5EF4-FFF2-40B4-BE49-F238E27FC236}">
                <a16:creationId xmlns:a16="http://schemas.microsoft.com/office/drawing/2014/main" id="{551A9BA4-549E-4D5F-8B23-58562301920D}"/>
              </a:ext>
            </a:extLst>
          </p:cNvPr>
          <p:cNvSpPr/>
          <p:nvPr/>
        </p:nvSpPr>
        <p:spPr>
          <a:xfrm>
            <a:off x="6575101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6" name="Rectangle 12">
            <a:extLst>
              <a:ext uri="{FF2B5EF4-FFF2-40B4-BE49-F238E27FC236}">
                <a16:creationId xmlns:a16="http://schemas.microsoft.com/office/drawing/2014/main" id="{B82081A7-03FA-4067-AE08-29405AF59299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5145</a:t>
            </a: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824A77EB-843C-4B1C-A549-20609B8073CC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7345</a:t>
            </a:r>
          </a:p>
        </p:txBody>
      </p:sp>
      <p:cxnSp>
        <p:nvCxnSpPr>
          <p:cNvPr id="69" name="Elbow Connector 20">
            <a:extLst>
              <a:ext uri="{FF2B5EF4-FFF2-40B4-BE49-F238E27FC236}">
                <a16:creationId xmlns:a16="http://schemas.microsoft.com/office/drawing/2014/main" id="{61755CD2-4B78-4A37-9D47-303AF55BA387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rot="5400000">
            <a:off x="7131227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22">
            <a:extLst>
              <a:ext uri="{FF2B5EF4-FFF2-40B4-BE49-F238E27FC236}">
                <a16:creationId xmlns:a16="http://schemas.microsoft.com/office/drawing/2014/main" id="{3E69DE81-A806-4B66-8C42-D91874E7987D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 rot="16200000" flipH="1">
            <a:off x="7717069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5">
            <a:extLst>
              <a:ext uri="{FF2B5EF4-FFF2-40B4-BE49-F238E27FC236}">
                <a16:creationId xmlns:a16="http://schemas.microsoft.com/office/drawing/2014/main" id="{E7408927-EA71-4F43-BB67-9D83F0B505A1}"/>
              </a:ext>
            </a:extLst>
          </p:cNvPr>
          <p:cNvSpPr/>
          <p:nvPr/>
        </p:nvSpPr>
        <p:spPr>
          <a:xfrm>
            <a:off x="8890445" y="2890330"/>
            <a:ext cx="1835241" cy="12445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7501</a:t>
            </a:r>
            <a:r>
              <a:rPr lang="en-US" sz="1400" b="1" dirty="0"/>
              <a:t> </a:t>
            </a:r>
            <a:r>
              <a:rPr lang="en-US" sz="1400" b="1"/>
              <a:t>– 10000</a:t>
            </a:r>
            <a:endParaRPr lang="en-US" sz="1400" b="1" dirty="0"/>
          </a:p>
        </p:txBody>
      </p:sp>
      <p:sp>
        <p:nvSpPr>
          <p:cNvPr id="73" name="Rectangle 12">
            <a:extLst>
              <a:ext uri="{FF2B5EF4-FFF2-40B4-BE49-F238E27FC236}">
                <a16:creationId xmlns:a16="http://schemas.microsoft.com/office/drawing/2014/main" id="{0A868B6B-7361-45A1-9DE5-AC85B971107C}"/>
              </a:ext>
            </a:extLst>
          </p:cNvPr>
          <p:cNvSpPr/>
          <p:nvPr/>
        </p:nvSpPr>
        <p:spPr>
          <a:xfrm>
            <a:off x="9072303" y="4611976"/>
            <a:ext cx="959203" cy="152169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7890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4" name="Rectangle 13">
            <a:extLst>
              <a:ext uri="{FF2B5EF4-FFF2-40B4-BE49-F238E27FC236}">
                <a16:creationId xmlns:a16="http://schemas.microsoft.com/office/drawing/2014/main" id="{11AEF074-BFA9-47AD-BE8C-C7A5F7BADE52}"/>
              </a:ext>
            </a:extLst>
          </p:cNvPr>
          <p:cNvSpPr/>
          <p:nvPr/>
        </p:nvSpPr>
        <p:spPr>
          <a:xfrm>
            <a:off x="10236368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9999</a:t>
            </a:r>
          </a:p>
        </p:txBody>
      </p:sp>
      <p:cxnSp>
        <p:nvCxnSpPr>
          <p:cNvPr id="76" name="Elbow Connector 20">
            <a:extLst>
              <a:ext uri="{FF2B5EF4-FFF2-40B4-BE49-F238E27FC236}">
                <a16:creationId xmlns:a16="http://schemas.microsoft.com/office/drawing/2014/main" id="{87A215EF-0771-4537-A1FE-8E796E9C8E57}"/>
              </a:ext>
            </a:extLst>
          </p:cNvPr>
          <p:cNvCxnSpPr>
            <a:cxnSpLocks/>
            <a:stCxn id="71" idx="2"/>
            <a:endCxn id="73" idx="0"/>
          </p:cNvCxnSpPr>
          <p:nvPr/>
        </p:nvCxnSpPr>
        <p:spPr>
          <a:xfrm rot="5400000">
            <a:off x="9441462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22">
            <a:extLst>
              <a:ext uri="{FF2B5EF4-FFF2-40B4-BE49-F238E27FC236}">
                <a16:creationId xmlns:a16="http://schemas.microsoft.com/office/drawing/2014/main" id="{94E88A15-7CE5-4633-9C62-3A42E1FAB8E4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16200000" flipH="1">
            <a:off x="10027304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8FF94B52-3090-47B9-A9C6-C8EDE58D7185}"/>
              </a:ext>
            </a:extLst>
          </p:cNvPr>
          <p:cNvCxnSpPr>
            <a:cxnSpLocks/>
            <a:stCxn id="4" idx="2"/>
            <a:endCxn id="64" idx="0"/>
          </p:cNvCxnSpPr>
          <p:nvPr/>
        </p:nvCxnSpPr>
        <p:spPr>
          <a:xfrm rot="16200000" flipH="1">
            <a:off x="6615675" y="2013282"/>
            <a:ext cx="347155" cy="14069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Verbinder: gewinkelt 80">
            <a:extLst>
              <a:ext uri="{FF2B5EF4-FFF2-40B4-BE49-F238E27FC236}">
                <a16:creationId xmlns:a16="http://schemas.microsoft.com/office/drawing/2014/main" id="{92A0A211-7F65-41EA-BAA7-74B015620CB3}"/>
              </a:ext>
            </a:extLst>
          </p:cNvPr>
          <p:cNvCxnSpPr>
            <a:cxnSpLocks/>
            <a:stCxn id="4" idx="2"/>
            <a:endCxn id="71" idx="0"/>
          </p:cNvCxnSpPr>
          <p:nvPr/>
        </p:nvCxnSpPr>
        <p:spPr>
          <a:xfrm rot="16200000" flipH="1">
            <a:off x="7773347" y="855610"/>
            <a:ext cx="347155" cy="372228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BE10B2AA-18D1-48F4-9EC0-31FF8D17BF4A}"/>
              </a:ext>
            </a:extLst>
          </p:cNvPr>
          <p:cNvCxnSpPr>
            <a:stCxn id="4" idx="2"/>
            <a:endCxn id="57" idx="0"/>
          </p:cNvCxnSpPr>
          <p:nvPr/>
        </p:nvCxnSpPr>
        <p:spPr>
          <a:xfrm rot="5400000">
            <a:off x="5458003" y="2262550"/>
            <a:ext cx="347155" cy="9084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40">
            <a:extLst>
              <a:ext uri="{FF2B5EF4-FFF2-40B4-BE49-F238E27FC236}">
                <a16:creationId xmlns:a16="http://schemas.microsoft.com/office/drawing/2014/main" id="{699FB49F-B427-4F4F-BE08-97DD3F440668}"/>
              </a:ext>
            </a:extLst>
          </p:cNvPr>
          <p:cNvSpPr txBox="1"/>
          <p:nvPr/>
        </p:nvSpPr>
        <p:spPr>
          <a:xfrm>
            <a:off x="194848" y="1634757"/>
            <a:ext cx="787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2</a:t>
            </a:r>
          </a:p>
        </p:txBody>
      </p:sp>
      <p:sp>
        <p:nvSpPr>
          <p:cNvPr id="56" name="TextBox 41">
            <a:extLst>
              <a:ext uri="{FF2B5EF4-FFF2-40B4-BE49-F238E27FC236}">
                <a16:creationId xmlns:a16="http://schemas.microsoft.com/office/drawing/2014/main" id="{CF40DAB4-8DF4-4BCE-91F7-AD43BA6011A0}"/>
              </a:ext>
            </a:extLst>
          </p:cNvPr>
          <p:cNvSpPr txBox="1"/>
          <p:nvPr/>
        </p:nvSpPr>
        <p:spPr>
          <a:xfrm>
            <a:off x="192843" y="2889250"/>
            <a:ext cx="802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1</a:t>
            </a:r>
          </a:p>
        </p:txBody>
      </p:sp>
      <p:sp>
        <p:nvSpPr>
          <p:cNvPr id="58" name="TextBox 42">
            <a:extLst>
              <a:ext uri="{FF2B5EF4-FFF2-40B4-BE49-F238E27FC236}">
                <a16:creationId xmlns:a16="http://schemas.microsoft.com/office/drawing/2014/main" id="{EA83008E-3951-49FA-87A3-E1249B32D3F5}"/>
              </a:ext>
            </a:extLst>
          </p:cNvPr>
          <p:cNvSpPr txBox="1"/>
          <p:nvPr/>
        </p:nvSpPr>
        <p:spPr>
          <a:xfrm>
            <a:off x="192088" y="4616450"/>
            <a:ext cx="803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0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5F65DE-FBBA-4925-8BA5-A8902597D254}"/>
              </a:ext>
            </a:extLst>
          </p:cNvPr>
          <p:cNvSpPr txBox="1"/>
          <p:nvPr/>
        </p:nvSpPr>
        <p:spPr>
          <a:xfrm>
            <a:off x="1954631" y="1627511"/>
            <a:ext cx="3123452" cy="92333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SELECT</a:t>
            </a:r>
            <a:r>
              <a:rPr lang="de-DE" dirty="0">
                <a:latin typeface="Lucida Sans" panose="020B0602030504020204" pitchFamily="34" charset="0"/>
              </a:rPr>
              <a:t>	*</a:t>
            </a:r>
            <a:br>
              <a:rPr lang="de-DE" dirty="0">
                <a:latin typeface="Lucida Sans" panose="020B0602030504020204" pitchFamily="34" charset="0"/>
              </a:rPr>
            </a:br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FROM</a:t>
            </a:r>
            <a:r>
              <a:rPr lang="de-DE" dirty="0">
                <a:latin typeface="Lucida Sans" panose="020B0602030504020204" pitchFamily="34" charset="0"/>
              </a:rPr>
              <a:t>	</a:t>
            </a:r>
            <a:r>
              <a:rPr lang="de-DE" dirty="0" err="1">
                <a:latin typeface="Lucida Sans" panose="020B0602030504020204" pitchFamily="34" charset="0"/>
              </a:rPr>
              <a:t>dbo.Customers</a:t>
            </a:r>
            <a:endParaRPr lang="de-DE" dirty="0">
              <a:latin typeface="Lucida Sans" panose="020B0602030504020204" pitchFamily="34" charset="0"/>
            </a:endParaRPr>
          </a:p>
          <a:p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WHERE</a:t>
            </a:r>
            <a:r>
              <a:rPr lang="de-DE" dirty="0">
                <a:latin typeface="Lucida Sans" panose="020B0602030504020204" pitchFamily="34" charset="0"/>
              </a:rPr>
              <a:t>	</a:t>
            </a:r>
            <a:r>
              <a:rPr lang="de-DE" dirty="0" err="1">
                <a:latin typeface="Lucida Sans" panose="020B0602030504020204" pitchFamily="34" charset="0"/>
              </a:rPr>
              <a:t>Id</a:t>
            </a:r>
            <a:r>
              <a:rPr lang="de-DE" dirty="0">
                <a:latin typeface="Lucida Sans" panose="020B0602030504020204" pitchFamily="34" charset="0"/>
              </a:rPr>
              <a:t> = 8091</a:t>
            </a:r>
            <a:r>
              <a:rPr lang="de-DE" dirty="0"/>
              <a:t>;</a:t>
            </a: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A0659323-42E0-419F-8F79-D9EDF8E002C1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5145</a:t>
            </a: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9113C874-A1F7-49B9-A0C2-7B4F61E0E5D7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7345</a:t>
            </a:r>
          </a:p>
        </p:txBody>
      </p:sp>
    </p:spTree>
    <p:extLst>
      <p:ext uri="{BB962C8B-B14F-4D97-AF65-F5344CB8AC3E}">
        <p14:creationId xmlns:p14="http://schemas.microsoft.com/office/powerpoint/2010/main" val="387116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19E14-5CA0-7B88-FDBE-C785982C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BEB97D0-A40F-D102-9769-F4867A790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3" y="2498974"/>
            <a:ext cx="10363200" cy="1362075"/>
          </a:xfrm>
        </p:spPr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EEA329C-1A0A-ACCF-3A89-FA01DBAF7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424" y="4509121"/>
            <a:ext cx="10363200" cy="1500187"/>
          </a:xfrm>
        </p:spPr>
        <p:txBody>
          <a:bodyPr/>
          <a:lstStyle/>
          <a:p>
            <a:r>
              <a:rPr lang="de-DE" dirty="0"/>
              <a:t>Aufbau eines Clustered Index und</a:t>
            </a:r>
            <a:br>
              <a:rPr lang="de-DE" dirty="0"/>
            </a:br>
            <a:r>
              <a:rPr lang="de-DE" dirty="0"/>
              <a:t>Besonderheiten bei der Erstellung</a:t>
            </a:r>
          </a:p>
        </p:txBody>
      </p:sp>
    </p:spTree>
    <p:extLst>
      <p:ext uri="{BB962C8B-B14F-4D97-AF65-F5344CB8AC3E}">
        <p14:creationId xmlns:p14="http://schemas.microsoft.com/office/powerpoint/2010/main" val="673038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Anatomie eines “Non Clustered Index”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5135893" y="1556794"/>
            <a:ext cx="66243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Arial" pitchFamily="34" charset="0"/>
              <a:buChar char="•"/>
            </a:pPr>
            <a:r>
              <a:rPr lang="de-DE" sz="2400" dirty="0"/>
              <a:t>Nonclustered Indexe haben die gleiche B-</a:t>
            </a:r>
            <a:r>
              <a:rPr lang="de-DE" sz="2400" dirty="0" err="1"/>
              <a:t>tree</a:t>
            </a:r>
            <a:r>
              <a:rPr lang="de-DE" sz="2400" dirty="0"/>
              <a:t> Struktur wie Clustered Indexe mit drei signifikanten Unterschieden:  </a:t>
            </a:r>
          </a:p>
          <a:p>
            <a:pPr marL="742932" lvl="1" indent="-285744">
              <a:buFont typeface="Arial" pitchFamily="34" charset="0"/>
              <a:buChar char="•"/>
            </a:pPr>
            <a:r>
              <a:rPr lang="de-DE" sz="2400" dirty="0"/>
              <a:t>Der Index beinhaltet ausschließlich Daten, die durch die Indexdefinition in den Index aufgenommen werden.</a:t>
            </a:r>
          </a:p>
          <a:p>
            <a:pPr marL="742932" lvl="1" indent="-285744">
              <a:buFont typeface="Arial" pitchFamily="34" charset="0"/>
              <a:buChar char="•"/>
            </a:pPr>
            <a:r>
              <a:rPr lang="de-DE" sz="2400" dirty="0"/>
              <a:t>Jeder Nonclustered Index hat zusätzliche Informationen / Referenzen zur Tabelle im Index.</a:t>
            </a:r>
          </a:p>
          <a:p>
            <a:pPr marL="742932" lvl="1" indent="-285744">
              <a:buFont typeface="Arial" pitchFamily="34" charset="0"/>
              <a:buChar char="•"/>
            </a:pPr>
            <a:r>
              <a:rPr lang="de-DE" sz="2400" dirty="0"/>
              <a:t>Fehlende Informationen müssen IMMER aus dem Clustered Index / Heap ermittelt werden!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71" y="1508787"/>
            <a:ext cx="3714163" cy="4559963"/>
          </a:xfrm>
          <a:prstGeom prst="rect">
            <a:avLst/>
          </a:prstGeom>
        </p:spPr>
      </p:pic>
      <p:sp>
        <p:nvSpPr>
          <p:cNvPr id="4" name="Textfeld 3">
            <a:hlinkClick r:id="rId4"/>
          </p:cNvPr>
          <p:cNvSpPr txBox="1"/>
          <p:nvPr/>
        </p:nvSpPr>
        <p:spPr>
          <a:xfrm>
            <a:off x="431371" y="6165852"/>
            <a:ext cx="40869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bg1"/>
                </a:solidFill>
                <a:hlinkClick r:id="rId4"/>
              </a:rPr>
              <a:t>http://technet.microsoft.com/en-us/library/ms177484.aspx</a:t>
            </a:r>
            <a:endParaRPr lang="de-DE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32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RID-Lookup in Heap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57" y="1665288"/>
            <a:ext cx="5760441" cy="1663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4965" y="3547872"/>
            <a:ext cx="576103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b="1" dirty="0"/>
              <a:t>RID:	0x</a:t>
            </a:r>
            <a:r>
              <a:rPr lang="de-DE" b="1" dirty="0">
                <a:solidFill>
                  <a:srgbClr val="FF0000"/>
                </a:solidFill>
              </a:rPr>
              <a:t>A6FB0300</a:t>
            </a:r>
            <a:r>
              <a:rPr lang="de-DE" b="1" dirty="0">
                <a:solidFill>
                  <a:schemeClr val="accent6"/>
                </a:solidFill>
              </a:rPr>
              <a:t>0400</a:t>
            </a:r>
            <a:r>
              <a:rPr lang="de-DE" b="1" dirty="0"/>
              <a:t>0400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PAGE:	0xA6FB0300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File:	0x0400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Slot:	0x0400</a:t>
            </a:r>
          </a:p>
        </p:txBody>
      </p:sp>
      <p:cxnSp>
        <p:nvCxnSpPr>
          <p:cNvPr id="8" name="Straight Arrow Connector 7"/>
          <p:cNvCxnSpPr>
            <a:cxnSpLocks/>
            <a:endCxn id="6" idx="0"/>
          </p:cNvCxnSpPr>
          <p:nvPr/>
        </p:nvCxnSpPr>
        <p:spPr>
          <a:xfrm flipH="1">
            <a:off x="3215482" y="2496852"/>
            <a:ext cx="356774" cy="10510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4963" y="4967657"/>
            <a:ext cx="576103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b="1" dirty="0"/>
              <a:t>RID:	0x</a:t>
            </a:r>
            <a:r>
              <a:rPr lang="de-DE" b="1" dirty="0">
                <a:solidFill>
                  <a:srgbClr val="FF0000"/>
                </a:solidFill>
              </a:rPr>
              <a:t>A6FB0300</a:t>
            </a:r>
            <a:r>
              <a:rPr lang="de-DE" b="1" dirty="0">
                <a:solidFill>
                  <a:schemeClr val="accent6"/>
                </a:solidFill>
              </a:rPr>
              <a:t>0400</a:t>
            </a:r>
            <a:r>
              <a:rPr lang="de-DE" b="1" dirty="0"/>
              <a:t>0400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PAGE:	261030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File:	4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Slot:	4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12" y="1665288"/>
            <a:ext cx="5460602" cy="4357560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cxnSp>
        <p:nvCxnSpPr>
          <p:cNvPr id="14" name="Elbow Connector 13"/>
          <p:cNvCxnSpPr>
            <a:cxnSpLocks/>
            <a:stCxn id="10" idx="3"/>
          </p:cNvCxnSpPr>
          <p:nvPr/>
        </p:nvCxnSpPr>
        <p:spPr>
          <a:xfrm flipV="1">
            <a:off x="6095998" y="2304288"/>
            <a:ext cx="1840994" cy="326353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970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Key-Lookup in </a:t>
            </a:r>
            <a:r>
              <a:rPr lang="de-DE" dirty="0" err="1"/>
              <a:t>Clustered</a:t>
            </a:r>
            <a:r>
              <a:rPr lang="de-DE"/>
              <a:t> Index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87" y="1665289"/>
            <a:ext cx="5012339" cy="16557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95920" y="3608938"/>
            <a:ext cx="804672" cy="6542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Root</a:t>
            </a:r>
          </a:p>
          <a:p>
            <a:pPr algn="ctr"/>
            <a:r>
              <a:rPr lang="de-DE" sz="1400" dirty="0"/>
              <a:t>127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09834" y="4551059"/>
            <a:ext cx="804672" cy="3867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352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2922" y="4551058"/>
            <a:ext cx="804672" cy="3867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353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6010" y="4551057"/>
            <a:ext cx="804672" cy="3867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353</a:t>
            </a:r>
          </a:p>
        </p:txBody>
      </p:sp>
      <p:cxnSp>
        <p:nvCxnSpPr>
          <p:cNvPr id="18" name="Straight Arrow Connector 17"/>
          <p:cNvCxnSpPr>
            <a:stCxn id="11" idx="2"/>
            <a:endCxn id="15" idx="0"/>
          </p:cNvCxnSpPr>
          <p:nvPr/>
        </p:nvCxnSpPr>
        <p:spPr>
          <a:xfrm flipH="1">
            <a:off x="2685258" y="4263171"/>
            <a:ext cx="12998" cy="287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1" idx="1"/>
            <a:endCxn id="13" idx="0"/>
          </p:cNvCxnSpPr>
          <p:nvPr/>
        </p:nvCxnSpPr>
        <p:spPr>
          <a:xfrm rot="10800000" flipV="1">
            <a:off x="1712170" y="3936055"/>
            <a:ext cx="583750" cy="6150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1" idx="3"/>
            <a:endCxn id="16" idx="0"/>
          </p:cNvCxnSpPr>
          <p:nvPr/>
        </p:nvCxnSpPr>
        <p:spPr>
          <a:xfrm>
            <a:off x="3100592" y="3936055"/>
            <a:ext cx="557754" cy="6150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6746" y="5453951"/>
            <a:ext cx="804672" cy="398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3510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09834" y="5453950"/>
            <a:ext cx="804672" cy="398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3511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2922" y="5453949"/>
            <a:ext cx="804672" cy="398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3512</a:t>
            </a:r>
          </a:p>
        </p:txBody>
      </p:sp>
      <p:cxnSp>
        <p:nvCxnSpPr>
          <p:cNvPr id="28" name="Elbow Connector 27"/>
          <p:cNvCxnSpPr>
            <a:stCxn id="13" idx="2"/>
            <a:endCxn id="24" idx="0"/>
          </p:cNvCxnSpPr>
          <p:nvPr/>
        </p:nvCxnSpPr>
        <p:spPr>
          <a:xfrm rot="5400000">
            <a:off x="967532" y="4709312"/>
            <a:ext cx="516189" cy="9730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13" idx="2"/>
            <a:endCxn id="25" idx="0"/>
          </p:cNvCxnSpPr>
          <p:nvPr/>
        </p:nvCxnSpPr>
        <p:spPr>
          <a:xfrm rot="5400000">
            <a:off x="1454076" y="5195856"/>
            <a:ext cx="516188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13" idx="2"/>
            <a:endCxn id="26" idx="0"/>
          </p:cNvCxnSpPr>
          <p:nvPr/>
        </p:nvCxnSpPr>
        <p:spPr>
          <a:xfrm rot="16200000" flipH="1">
            <a:off x="1940621" y="4709311"/>
            <a:ext cx="516187" cy="9730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65289"/>
            <a:ext cx="5538190" cy="4186872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cxnSp>
        <p:nvCxnSpPr>
          <p:cNvPr id="14" name="Elbow Connector 13"/>
          <p:cNvCxnSpPr>
            <a:stCxn id="26" idx="3"/>
          </p:cNvCxnSpPr>
          <p:nvPr/>
        </p:nvCxnSpPr>
        <p:spPr>
          <a:xfrm flipV="1">
            <a:off x="3087594" y="2148840"/>
            <a:ext cx="3945666" cy="350421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40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15413" y="2498974"/>
            <a:ext cx="10363200" cy="1362075"/>
          </a:xfrm>
        </p:spPr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idx="1"/>
          </p:nvPr>
        </p:nvSpPr>
        <p:spPr>
          <a:xfrm>
            <a:off x="911424" y="4509121"/>
            <a:ext cx="10363200" cy="1500187"/>
          </a:xfrm>
        </p:spPr>
        <p:txBody>
          <a:bodyPr/>
          <a:lstStyle/>
          <a:p>
            <a:r>
              <a:rPr lang="de-DE" dirty="0"/>
              <a:t>Aufbau eines Nonclustered Index und </a:t>
            </a:r>
            <a:br>
              <a:rPr lang="de-DE" dirty="0"/>
            </a:br>
            <a:r>
              <a:rPr lang="de-DE" dirty="0"/>
              <a:t>Besonderheiten bei der Abfrage von Nonclustered Indexen</a:t>
            </a:r>
          </a:p>
        </p:txBody>
      </p:sp>
    </p:spTree>
    <p:extLst>
      <p:ext uri="{BB962C8B-B14F-4D97-AF65-F5344CB8AC3E}">
        <p14:creationId xmlns:p14="http://schemas.microsoft.com/office/powerpoint/2010/main" val="1802371501"/>
      </p:ext>
    </p:extLst>
  </p:cSld>
  <p:clrMapOvr>
    <a:masterClrMapping/>
  </p:clrMapOvr>
</p:sld>
</file>

<file path=ppt/theme/theme1.xml><?xml version="1.0" encoding="utf-8"?>
<a:theme xmlns:a="http://schemas.openxmlformats.org/drawingml/2006/main" name="1_db-berater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" id="{A415B4FD-AA9B-4461-AC2B-36ED5617A0E3}" vid="{018F950C-F5FA-4D6B-B0C1-0DCF0BD051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 Berater - Neutral</Template>
  <TotalTime>0</TotalTime>
  <Words>880</Words>
  <Application>Microsoft Office PowerPoint</Application>
  <PresentationFormat>Breitbild</PresentationFormat>
  <Paragraphs>201</Paragraphs>
  <Slides>18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Arial</vt:lpstr>
      <vt:lpstr>Calibri</vt:lpstr>
      <vt:lpstr>Lucida Console</vt:lpstr>
      <vt:lpstr>Lucida Sans</vt:lpstr>
      <vt:lpstr>Segoe UI</vt:lpstr>
      <vt:lpstr>1_db-berater</vt:lpstr>
      <vt:lpstr>Microsoft SQL Server</vt:lpstr>
      <vt:lpstr>Links for this Session/Workshop</vt:lpstr>
      <vt:lpstr>Uwe Ricken db Berater GmbH</vt:lpstr>
      <vt:lpstr>Challenge SQL Server real world scenarios</vt:lpstr>
      <vt:lpstr>Agenda</vt:lpstr>
      <vt:lpstr>Indexstrukturen</vt:lpstr>
      <vt:lpstr>Anatomie eines Heap?</vt:lpstr>
      <vt:lpstr>Demo</vt:lpstr>
      <vt:lpstr>Anatomy of a Clustered Index</vt:lpstr>
      <vt:lpstr>Anatomy of a Clustered Index</vt:lpstr>
      <vt:lpstr>Anatomy of a Clustered Index</vt:lpstr>
      <vt:lpstr>Anatomy of a Clustered Index</vt:lpstr>
      <vt:lpstr>Anatomy of a Clustered Index</vt:lpstr>
      <vt:lpstr>Demo</vt:lpstr>
      <vt:lpstr>Anatomie eines “Non Clustered Index”</vt:lpstr>
      <vt:lpstr>RID-Lookup in Heap</vt:lpstr>
      <vt:lpstr>Key-Lookup in Clustered Index</vt:lpstr>
      <vt:lpstr>Demo</vt:lpstr>
    </vt:vector>
  </TitlesOfParts>
  <Company>db Berater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Uwe Ricken</dc:creator>
  <cp:lastModifiedBy>Uwe Ricken</cp:lastModifiedBy>
  <cp:revision>122</cp:revision>
  <dcterms:created xsi:type="dcterms:W3CDTF">2015-11-08T16:01:13Z</dcterms:created>
  <dcterms:modified xsi:type="dcterms:W3CDTF">2026-04-07T16:41:49Z</dcterms:modified>
</cp:coreProperties>
</file>